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75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74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4C7938A-95DA-46E5-98A0-6A54E4115E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7C78"/>
          </a:solidFill>
          <a:ln w="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65F8C9-D677-4F00-AEDB-C823B7BF54D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DDS AI CHALLENGE · FINAL SUBMISSION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86BF58-501F-42F8-84A7-78CB690C804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76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Mortgage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E0041-2887-48D8-B3F1-A9E4B2730247}"/>
              </a:ext>
            </a:extLst>
          </p:cNvPr>
          <p:cNvSpPr>
            <a:spLocks noGrp="1"/>
          </p:cNvSpPr>
          <p:nvPr/>
        </p:nvSpPr>
        <p:spPr>
          <a:xfrm>
            <a:off x="4972050" y="1390650"/>
            <a:ext cx="1809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266D3-92C9-49DB-A449-C8C2FF948E7E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6096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0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0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Automated Case</a:t>
            </a:r>
          </a:p>
          <a:p>
            <a:pPr algn="l">
              <a:defRPr sz="3000" b="0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0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Processing System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8ECF88D-67A0-47C8-9A2E-0E6F71E70B10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5238750" cy="0"/>
          </a:xfrm>
          <a:prstGeom prst="line">
            <a:avLst/>
          </a:prstGeom>
          <a:noFill/>
          <a:ln w="28575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D7065-0D79-4B59-93D8-D95C60D7BB91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6D7B7A"/>
                </a:solidFill>
                <a:latin typeface="Aptos"/>
                <a:ea typeface="Aptos"/>
                <a:cs typeface="Aptos"/>
              </a:rPr>
              <a:t>By Adarsh </a:t>
            </a:r>
            <a:r>
              <a:rPr lang="en-IN" sz="1650" b="0" dirty="0">
                <a:solidFill>
                  <a:srgbClr val="6D7B7A"/>
                </a:solidFill>
                <a:latin typeface="Aptos"/>
                <a:ea typeface="Aptos"/>
                <a:cs typeface="Aptos"/>
              </a:rPr>
              <a:t>Kumar </a:t>
            </a:r>
            <a:r>
              <a:rPr sz="1650" b="0" dirty="0">
                <a:solidFill>
                  <a:srgbClr val="6D7B7A"/>
                </a:solidFill>
                <a:latin typeface="Aptos"/>
                <a:ea typeface="Aptos"/>
                <a:cs typeface="Aptos"/>
              </a:rPr>
              <a:t>Malpotra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25A5AC-FC97-4882-800E-B98A62928857}"/>
              </a:ext>
            </a:extLst>
          </p:cNvPr>
          <p:cNvSpPr>
            <a:spLocks noGrp="1"/>
          </p:cNvSpPr>
          <p:nvPr/>
        </p:nvSpPr>
        <p:spPr>
          <a:xfrm>
            <a:off x="7858125" y="1162050"/>
            <a:ext cx="2571750" cy="2571750"/>
          </a:xfrm>
          <a:prstGeom prst="ellipse">
            <a:avLst/>
          </a:prstGeom>
          <a:noFill/>
          <a:ln w="28575">
            <a:solidFill>
              <a:srgbClr val="D7E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3ABD95-4CA2-4DB5-97AF-22C1241C369D}"/>
              </a:ext>
            </a:extLst>
          </p:cNvPr>
          <p:cNvSpPr>
            <a:spLocks noGrp="1"/>
          </p:cNvSpPr>
          <p:nvPr/>
        </p:nvSpPr>
        <p:spPr>
          <a:xfrm>
            <a:off x="8591550" y="1895475"/>
            <a:ext cx="1104900" cy="1104900"/>
          </a:xfrm>
          <a:prstGeom prst="ellipse">
            <a:avLst/>
          </a:prstGeom>
          <a:solidFill>
            <a:srgbClr val="B7E54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9765CC-95CF-4400-B5C6-86930A285617}"/>
              </a:ext>
            </a:extLst>
          </p:cNvPr>
          <p:cNvSpPr>
            <a:spLocks noGrp="1"/>
          </p:cNvSpPr>
          <p:nvPr/>
        </p:nvSpPr>
        <p:spPr>
          <a:xfrm>
            <a:off x="10287000" y="3905250"/>
            <a:ext cx="323850" cy="323850"/>
          </a:xfrm>
          <a:prstGeom prst="ellipse">
            <a:avLst/>
          </a:prstGeom>
          <a:solidFill>
            <a:srgbClr val="007C78"/>
          </a:solidFill>
          <a:ln w="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D1C6D1D-336B-437B-8F4A-C66EC7E2AC60}"/>
              </a:ext>
            </a:extLst>
          </p:cNvPr>
          <p:cNvSpPr>
            <a:spLocks noGrp="1"/>
          </p:cNvSpPr>
          <p:nvPr/>
        </p:nvSpPr>
        <p:spPr>
          <a:xfrm>
            <a:off x="7296150" y="5267325"/>
            <a:ext cx="3848100" cy="1428750"/>
          </a:xfrm>
          <a:prstGeom prst="line">
            <a:avLst/>
          </a:prstGeom>
          <a:noFill/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281D0A-786C-475B-9B1A-923E89C2C2AF}"/>
              </a:ext>
            </a:extLst>
          </p:cNvPr>
          <p:cNvSpPr>
            <a:spLocks noGrp="1"/>
          </p:cNvSpPr>
          <p:nvPr/>
        </p:nvSpPr>
        <p:spPr>
          <a:xfrm>
            <a:off x="7429500" y="53911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1E96B7-571D-44A3-99F2-340F89421ED9}"/>
              </a:ext>
            </a:extLst>
          </p:cNvPr>
          <p:cNvSpPr>
            <a:spLocks noGrp="1"/>
          </p:cNvSpPr>
          <p:nvPr/>
        </p:nvSpPr>
        <p:spPr>
          <a:xfrm>
            <a:off x="10191750" y="36385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581BF1-1EE4-4F6A-BD69-6DCF2BD84C60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479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AA88669-66F9-4BAE-84CA-57739AE936A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C7B2646-0798-49CC-AD42-6BA23D516EE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6DA26-5602-43AE-9B3B-FE7F99ED1801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A3ACB8-F7CD-4F6A-9F04-901A320EDFFE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CE96AFEE-2838-4A3C-ADF1-4ADF87021E43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Case processing needs speed, security, scale and transparency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CB842-96C2-4DF7-9A58-A2C74571D854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ONE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967149-0B0A-4514-BF78-C7291F2419B5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428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Automate cases</a:t>
            </a:r>
          </a:p>
          <a:p>
            <a:pPr algn="l">
              <a:defRPr sz="25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without losing control.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A4CAD-7837-4B6C-A6FA-04DA1DDDE480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400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Applicant and administrator experiences stay distinct while processing runs in the cloud.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E22C4-86C7-4720-892C-F36C8D9BA91F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3981450" cy="76200"/>
          </a:xfrm>
          <a:prstGeom prst="rect">
            <a:avLst/>
          </a:prstGeom>
          <a:solidFill>
            <a:srgbClr val="B7E547"/>
          </a:solidFill>
          <a:ln w="0">
            <a:solidFill>
              <a:srgbClr val="B7E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DFD5E-41FD-4CFF-A2DA-2685D3A21031}"/>
              </a:ext>
            </a:extLst>
          </p:cNvPr>
          <p:cNvSpPr>
            <a:spLocks noGrp="1"/>
          </p:cNvSpPr>
          <p:nvPr/>
        </p:nvSpPr>
        <p:spPr>
          <a:xfrm>
            <a:off x="5638800" y="22479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BD413-67C8-4713-B0AB-180D20536840}"/>
              </a:ext>
            </a:extLst>
          </p:cNvPr>
          <p:cNvSpPr>
            <a:spLocks noGrp="1"/>
          </p:cNvSpPr>
          <p:nvPr/>
        </p:nvSpPr>
        <p:spPr>
          <a:xfrm>
            <a:off x="6153150" y="22193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2F443-617F-4938-8B6E-E1276789003D}"/>
              </a:ext>
            </a:extLst>
          </p:cNvPr>
          <p:cNvSpPr>
            <a:spLocks noGrp="1"/>
          </p:cNvSpPr>
          <p:nvPr/>
        </p:nvSpPr>
        <p:spPr>
          <a:xfrm>
            <a:off x="8172450" y="22193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Need automated case processing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5B39E5D-0B81-49EF-9A9B-4E8B61488342}"/>
              </a:ext>
            </a:extLst>
          </p:cNvPr>
          <p:cNvSpPr>
            <a:spLocks noGrp="1"/>
          </p:cNvSpPr>
          <p:nvPr/>
        </p:nvSpPr>
        <p:spPr>
          <a:xfrm>
            <a:off x="5638800" y="2590800"/>
            <a:ext cx="56769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EA5830-6AF2-4123-877D-18B68D026B9C}"/>
              </a:ext>
            </a:extLst>
          </p:cNvPr>
          <p:cNvSpPr>
            <a:spLocks noGrp="1"/>
          </p:cNvSpPr>
          <p:nvPr/>
        </p:nvSpPr>
        <p:spPr>
          <a:xfrm>
            <a:off x="5638800" y="296227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32216-F03E-4933-9797-F4B23BEE061C}"/>
              </a:ext>
            </a:extLst>
          </p:cNvPr>
          <p:cNvSpPr>
            <a:spLocks noGrp="1"/>
          </p:cNvSpPr>
          <p:nvPr/>
        </p:nvSpPr>
        <p:spPr>
          <a:xfrm>
            <a:off x="6153150" y="29337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SECURE 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9C8FB6-090B-4F7C-B11D-B08F6BC2CEB9}"/>
              </a:ext>
            </a:extLst>
          </p:cNvPr>
          <p:cNvSpPr>
            <a:spLocks noGrp="1"/>
          </p:cNvSpPr>
          <p:nvPr/>
        </p:nvSpPr>
        <p:spPr>
          <a:xfrm>
            <a:off x="8172450" y="2933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Applicant + admin access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64AF483-4158-46E8-8B95-E5D66E089088}"/>
              </a:ext>
            </a:extLst>
          </p:cNvPr>
          <p:cNvSpPr>
            <a:spLocks noGrp="1"/>
          </p:cNvSpPr>
          <p:nvPr/>
        </p:nvSpPr>
        <p:spPr>
          <a:xfrm>
            <a:off x="5638800" y="3305175"/>
            <a:ext cx="56769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EC066B-C14A-43D1-99BF-FAA073099FBD}"/>
              </a:ext>
            </a:extLst>
          </p:cNvPr>
          <p:cNvSpPr>
            <a:spLocks noGrp="1"/>
          </p:cNvSpPr>
          <p:nvPr/>
        </p:nvSpPr>
        <p:spPr>
          <a:xfrm>
            <a:off x="5638800" y="3676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8CC8D5-0210-4BCC-B13D-65871071BD1B}"/>
              </a:ext>
            </a:extLst>
          </p:cNvPr>
          <p:cNvSpPr>
            <a:spLocks noGrp="1"/>
          </p:cNvSpPr>
          <p:nvPr/>
        </p:nvSpPr>
        <p:spPr>
          <a:xfrm>
            <a:off x="6153150" y="36480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BATCH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C50803-6E0F-445F-A5C9-9E07DE22C33A}"/>
              </a:ext>
            </a:extLst>
          </p:cNvPr>
          <p:cNvSpPr>
            <a:spLocks noGrp="1"/>
          </p:cNvSpPr>
          <p:nvPr/>
        </p:nvSpPr>
        <p:spPr>
          <a:xfrm>
            <a:off x="8172450" y="36480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Cases processed together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34E6DAB-0802-4DA4-AF78-0E6F19A1DE95}"/>
              </a:ext>
            </a:extLst>
          </p:cNvPr>
          <p:cNvSpPr>
            <a:spLocks noGrp="1"/>
          </p:cNvSpPr>
          <p:nvPr/>
        </p:nvSpPr>
        <p:spPr>
          <a:xfrm>
            <a:off x="5638800" y="4019550"/>
            <a:ext cx="56769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86A8D6-E3AD-4F8F-B9D9-489E812FD76E}"/>
              </a:ext>
            </a:extLst>
          </p:cNvPr>
          <p:cNvSpPr>
            <a:spLocks noGrp="1"/>
          </p:cNvSpPr>
          <p:nvPr/>
        </p:nvSpPr>
        <p:spPr>
          <a:xfrm>
            <a:off x="5638800" y="43910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EB1669-70E6-44FB-9EE4-7DAEC353C300}"/>
              </a:ext>
            </a:extLst>
          </p:cNvPr>
          <p:cNvSpPr>
            <a:spLocks noGrp="1"/>
          </p:cNvSpPr>
          <p:nvPr/>
        </p:nvSpPr>
        <p:spPr>
          <a:xfrm>
            <a:off x="6153150" y="4362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839A65-C7F5-45D5-BB06-DC17FEC8210D}"/>
              </a:ext>
            </a:extLst>
          </p:cNvPr>
          <p:cNvSpPr>
            <a:spLocks noGrp="1"/>
          </p:cNvSpPr>
          <p:nvPr/>
        </p:nvSpPr>
        <p:spPr>
          <a:xfrm>
            <a:off x="8172450" y="43624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Deployment beyond local systems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43AB48D5-5854-4653-BEF6-49DE5EB05A8F}"/>
              </a:ext>
            </a:extLst>
          </p:cNvPr>
          <p:cNvSpPr>
            <a:spLocks noGrp="1"/>
          </p:cNvSpPr>
          <p:nvPr/>
        </p:nvSpPr>
        <p:spPr>
          <a:xfrm>
            <a:off x="5638800" y="4733925"/>
            <a:ext cx="56769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777837-2859-4B62-8ABE-03EB5DF29AD0}"/>
              </a:ext>
            </a:extLst>
          </p:cNvPr>
          <p:cNvSpPr>
            <a:spLocks noGrp="1"/>
          </p:cNvSpPr>
          <p:nvPr/>
        </p:nvSpPr>
        <p:spPr>
          <a:xfrm>
            <a:off x="5638800" y="51054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12DD67-2B77-4A6A-B4C9-CB59986F104F}"/>
              </a:ext>
            </a:extLst>
          </p:cNvPr>
          <p:cNvSpPr>
            <a:spLocks noGrp="1"/>
          </p:cNvSpPr>
          <p:nvPr/>
        </p:nvSpPr>
        <p:spPr>
          <a:xfrm>
            <a:off x="6153150" y="50768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TRANSPARENCY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188578-1A2F-454F-B62D-86AB30178168}"/>
              </a:ext>
            </a:extLst>
          </p:cNvPr>
          <p:cNvSpPr>
            <a:spLocks noGrp="1"/>
          </p:cNvSpPr>
          <p:nvPr/>
        </p:nvSpPr>
        <p:spPr>
          <a:xfrm>
            <a:off x="8172450" y="50768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Results remain visible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26CC7253-F431-4854-BE97-A8C0C7E7F1E0}"/>
              </a:ext>
            </a:extLst>
          </p:cNvPr>
          <p:cNvSpPr>
            <a:spLocks noGrp="1"/>
          </p:cNvSpPr>
          <p:nvPr/>
        </p:nvSpPr>
        <p:spPr>
          <a:xfrm>
            <a:off x="5638800" y="5448300"/>
            <a:ext cx="56769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8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278102F-24A5-465E-9E35-8464B42F72F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7AB9F98-3048-45A4-A7B8-20493B1B1E6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9CD73-8680-4F17-B441-55492215DA42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5412BF-2846-436F-A90A-55EB89D9F764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765145AE-6CB9-4FE6-B0DF-1B57F6597E8C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One automated pipeline connects intake to results every 10 minutes</a:t>
            </a:r>
          </a:p>
        </p:txBody>
      </p:sp>
      <p:sp>
        <p:nvSpPr>
          <p:cNvPr id="6" name="architecture-node-1">
            <a:extLst>
              <a:ext uri="{FF2B5EF4-FFF2-40B4-BE49-F238E27FC236}">
                <a16:creationId xmlns:a16="http://schemas.microsoft.com/office/drawing/2014/main" id="{830489EE-97B1-4BAA-8EF4-8BF13FE11F43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6383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BE1CFC-B375-4BA0-B387-2B9632A1A7F0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LOVABLE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3BBB43-4503-4D1D-80EF-B6014386ECF1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Applicant intake</a:t>
            </a:r>
          </a:p>
        </p:txBody>
      </p:sp>
      <p:sp>
        <p:nvSpPr>
          <p:cNvPr id="9" name="architecture-node-2">
            <a:extLst>
              <a:ext uri="{FF2B5EF4-FFF2-40B4-BE49-F238E27FC236}">
                <a16:creationId xmlns:a16="http://schemas.microsoft.com/office/drawing/2014/main" id="{D080010A-F2AD-4066-A908-5E619E751371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16383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514C00-A587-4385-890F-973431FE2ED1}"/>
              </a:ext>
            </a:extLst>
          </p:cNvPr>
          <p:cNvSpPr>
            <a:spLocks noGrp="1"/>
          </p:cNvSpPr>
          <p:nvPr/>
        </p:nvSpPr>
        <p:spPr>
          <a:xfrm>
            <a:off x="2990850" y="28194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GOOGLE SHEET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7CCEC-673B-41D4-B098-D5085F5753F6}"/>
              </a:ext>
            </a:extLst>
          </p:cNvPr>
          <p:cNvSpPr>
            <a:spLocks noGrp="1"/>
          </p:cNvSpPr>
          <p:nvPr/>
        </p:nvSpPr>
        <p:spPr>
          <a:xfrm>
            <a:off x="2990850" y="3286125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Case queue</a:t>
            </a:r>
          </a:p>
        </p:txBody>
      </p:sp>
      <p:sp>
        <p:nvSpPr>
          <p:cNvPr id="12" name="architecture-node-3">
            <a:extLst>
              <a:ext uri="{FF2B5EF4-FFF2-40B4-BE49-F238E27FC236}">
                <a16:creationId xmlns:a16="http://schemas.microsoft.com/office/drawing/2014/main" id="{42148710-566E-438D-A768-7F1AA2A80427}"/>
              </a:ext>
            </a:extLst>
          </p:cNvPr>
          <p:cNvSpPr>
            <a:spLocks noGrp="1"/>
          </p:cNvSpPr>
          <p:nvPr/>
        </p:nvSpPr>
        <p:spPr>
          <a:xfrm>
            <a:off x="5067300" y="2724150"/>
            <a:ext cx="16383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85EEE2-958C-4FC5-AF0E-7C8861BD3C6F}"/>
              </a:ext>
            </a:extLst>
          </p:cNvPr>
          <p:cNvSpPr>
            <a:spLocks noGrp="1"/>
          </p:cNvSpPr>
          <p:nvPr/>
        </p:nvSpPr>
        <p:spPr>
          <a:xfrm>
            <a:off x="5181600" y="28194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n8n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72B14-0FBB-4E31-8356-4E96263220BB}"/>
              </a:ext>
            </a:extLst>
          </p:cNvPr>
          <p:cNvSpPr>
            <a:spLocks noGrp="1"/>
          </p:cNvSpPr>
          <p:nvPr/>
        </p:nvSpPr>
        <p:spPr>
          <a:xfrm>
            <a:off x="5181600" y="3286125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Workflow engine</a:t>
            </a:r>
          </a:p>
        </p:txBody>
      </p:sp>
      <p:sp>
        <p:nvSpPr>
          <p:cNvPr id="15" name="architecture-node-4">
            <a:extLst>
              <a:ext uri="{FF2B5EF4-FFF2-40B4-BE49-F238E27FC236}">
                <a16:creationId xmlns:a16="http://schemas.microsoft.com/office/drawing/2014/main" id="{355AC1B7-D196-4E51-B1F5-4EDB9A421F38}"/>
              </a:ext>
            </a:extLst>
          </p:cNvPr>
          <p:cNvSpPr>
            <a:spLocks noGrp="1"/>
          </p:cNvSpPr>
          <p:nvPr/>
        </p:nvSpPr>
        <p:spPr>
          <a:xfrm>
            <a:off x="7258050" y="2724150"/>
            <a:ext cx="16383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12DB1-2699-4DE8-B958-427C34B1211E}"/>
              </a:ext>
            </a:extLst>
          </p:cNvPr>
          <p:cNvSpPr>
            <a:spLocks noGrp="1"/>
          </p:cNvSpPr>
          <p:nvPr/>
        </p:nvSpPr>
        <p:spPr>
          <a:xfrm>
            <a:off x="7372350" y="28194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GOOGLE SHEET 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CEA25-D344-43AB-BCFF-EA8023405A82}"/>
              </a:ext>
            </a:extLst>
          </p:cNvPr>
          <p:cNvSpPr>
            <a:spLocks noGrp="1"/>
          </p:cNvSpPr>
          <p:nvPr/>
        </p:nvSpPr>
        <p:spPr>
          <a:xfrm>
            <a:off x="7372350" y="3286125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Processed output</a:t>
            </a:r>
          </a:p>
        </p:txBody>
      </p:sp>
      <p:sp>
        <p:nvSpPr>
          <p:cNvPr id="18" name="architecture-node-5">
            <a:extLst>
              <a:ext uri="{FF2B5EF4-FFF2-40B4-BE49-F238E27FC236}">
                <a16:creationId xmlns:a16="http://schemas.microsoft.com/office/drawing/2014/main" id="{CBC62A2B-0234-445D-90EA-D362A071657B}"/>
              </a:ext>
            </a:extLst>
          </p:cNvPr>
          <p:cNvSpPr>
            <a:spLocks noGrp="1"/>
          </p:cNvSpPr>
          <p:nvPr/>
        </p:nvSpPr>
        <p:spPr>
          <a:xfrm>
            <a:off x="9448800" y="2724150"/>
            <a:ext cx="1638300" cy="1028700"/>
          </a:xfrm>
          <a:prstGeom prst="rect">
            <a:avLst/>
          </a:prstGeom>
          <a:solidFill>
            <a:srgbClr val="B7E54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1FBB7-C853-45CC-826D-BF69B13AF72D}"/>
              </a:ext>
            </a:extLst>
          </p:cNvPr>
          <p:cNvSpPr>
            <a:spLocks noGrp="1"/>
          </p:cNvSpPr>
          <p:nvPr/>
        </p:nvSpPr>
        <p:spPr>
          <a:xfrm>
            <a:off x="9563100" y="28194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LOVABLE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7C2AB1-65CD-4C63-9F9D-D32E4CD81669}"/>
              </a:ext>
            </a:extLst>
          </p:cNvPr>
          <p:cNvSpPr>
            <a:spLocks noGrp="1"/>
          </p:cNvSpPr>
          <p:nvPr/>
        </p:nvSpPr>
        <p:spPr>
          <a:xfrm>
            <a:off x="9563100" y="3286125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Visible status</a:t>
            </a:r>
          </a:p>
        </p:txBody>
      </p:sp>
      <p:cxnSp>
        <p:nvCxnSpPr>
          <p:cNvPr id="21" name="Straight Arrow Connector 20"/>
          <p:cNvCxnSpPr>
            <a:stCxn id="6" idx="3"/>
            <a:endCxn id="9" idx="1"/>
          </p:cNvCxnSpPr>
          <p:nvPr/>
        </p:nvCxnSpPr>
        <p:spPr>
          <a:xfrm>
            <a:off x="2324100" y="3238500"/>
            <a:ext cx="55245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2" name="Straight Arrow Connector 21"/>
          <p:cNvCxnSpPr>
            <a:stCxn id="9" idx="3"/>
            <a:endCxn id="12" idx="1"/>
          </p:cNvCxnSpPr>
          <p:nvPr/>
        </p:nvCxnSpPr>
        <p:spPr>
          <a:xfrm>
            <a:off x="4514850" y="3238500"/>
            <a:ext cx="55245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3" name="Straight Arrow Connector 22"/>
          <p:cNvCxnSpPr>
            <a:stCxn id="12" idx="3"/>
            <a:endCxn id="15" idx="1"/>
          </p:cNvCxnSpPr>
          <p:nvPr/>
        </p:nvCxnSpPr>
        <p:spPr>
          <a:xfrm>
            <a:off x="6705600" y="3238500"/>
            <a:ext cx="55245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4" name="Straight Arrow Connector 23"/>
          <p:cNvCxnSpPr>
            <a:stCxn id="15" idx="3"/>
            <a:endCxn id="18" idx="1"/>
          </p:cNvCxnSpPr>
          <p:nvPr/>
        </p:nvCxnSpPr>
        <p:spPr>
          <a:xfrm>
            <a:off x="8896350" y="3238500"/>
            <a:ext cx="55245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6442DA1-C3FE-4AE7-A476-099AC7E67D4E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10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358FB7-7ACF-4110-8B90-762C7ABA3441}"/>
              </a:ext>
            </a:extLst>
          </p:cNvPr>
          <p:cNvSpPr>
            <a:spLocks noGrp="1"/>
          </p:cNvSpPr>
          <p:nvPr/>
        </p:nvSpPr>
        <p:spPr>
          <a:xfrm>
            <a:off x="1847850" y="4552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MINUTE TRIGGER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5D2097-0F63-46CA-88B9-1765CEF08916}"/>
              </a:ext>
            </a:extLst>
          </p:cNvPr>
          <p:cNvSpPr>
            <a:spLocks noGrp="1"/>
          </p:cNvSpPr>
          <p:nvPr/>
        </p:nvSpPr>
        <p:spPr>
          <a:xfrm>
            <a:off x="1847850" y="48768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Scheduled batch processing keeps the pipeline moving.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395506E6-3BE5-4CD4-A561-951E330F5974}"/>
              </a:ext>
            </a:extLst>
          </p:cNvPr>
          <p:cNvSpPr>
            <a:spLocks noGrp="1"/>
          </p:cNvSpPr>
          <p:nvPr/>
        </p:nvSpPr>
        <p:spPr>
          <a:xfrm>
            <a:off x="6229350" y="4552950"/>
            <a:ext cx="0" cy="685800"/>
          </a:xfrm>
          <a:prstGeom prst="line">
            <a:avLst/>
          </a:prstGeom>
          <a:noFill/>
          <a:ln w="1905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B7673F-A14D-4DE9-A283-298E0E554EFC}"/>
              </a:ext>
            </a:extLst>
          </p:cNvPr>
          <p:cNvSpPr>
            <a:spLocks noGrp="1"/>
          </p:cNvSpPr>
          <p:nvPr/>
        </p:nvSpPr>
        <p:spPr>
          <a:xfrm>
            <a:off x="6610350" y="45529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FULLY AUTOMATED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FE4056-6A21-418B-9C93-9328E8ADC8DD}"/>
              </a:ext>
            </a:extLst>
          </p:cNvPr>
          <p:cNvSpPr>
            <a:spLocks noGrp="1"/>
          </p:cNvSpPr>
          <p:nvPr/>
        </p:nvSpPr>
        <p:spPr>
          <a:xfrm>
            <a:off x="6610350" y="4876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From submitted case to written result.</a:t>
            </a:r>
          </a:p>
        </p:txBody>
      </p:sp>
    </p:spTree>
    <p:extLst>
      <p:ext uri="{BB962C8B-B14F-4D97-AF65-F5344CB8AC3E}">
        <p14:creationId xmlns:p14="http://schemas.microsoft.com/office/powerpoint/2010/main" val="183594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7334458-6739-4936-A96D-0134C488B1A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93F5CFD-8569-4D1A-B749-CF1A0827BEF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D1778-52C0-4BA3-B3E1-57FC1CF35438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5E05D-A270-4413-A928-030321F186A5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APPLICANT VIEW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DAA6C6D2-B943-4DEB-9000-23D24CB3FEC5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Applicants move from submission to visibility in four steps</a:t>
            </a:r>
          </a:p>
        </p:txBody>
      </p:sp>
      <p:sp>
        <p:nvSpPr>
          <p:cNvPr id="6" name="app-step-1">
            <a:extLst>
              <a:ext uri="{FF2B5EF4-FFF2-40B4-BE49-F238E27FC236}">
                <a16:creationId xmlns:a16="http://schemas.microsoft.com/office/drawing/2014/main" id="{0EF1135E-8306-4621-A74B-ED13DECA3AF7}"/>
              </a:ext>
            </a:extLst>
          </p:cNvPr>
          <p:cNvSpPr>
            <a:spLocks noGrp="1"/>
          </p:cNvSpPr>
          <p:nvPr/>
        </p:nvSpPr>
        <p:spPr>
          <a:xfrm>
            <a:off x="1028700" y="2714625"/>
            <a:ext cx="876300" cy="876300"/>
          </a:xfrm>
          <a:prstGeom prst="ellipse">
            <a:avLst/>
          </a:prstGeom>
          <a:solidFill>
            <a:srgbClr val="D7ECE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C99CD-0E25-45E7-890D-20CA28DF5E99}"/>
              </a:ext>
            </a:extLst>
          </p:cNvPr>
          <p:cNvSpPr>
            <a:spLocks noGrp="1"/>
          </p:cNvSpPr>
          <p:nvPr/>
        </p:nvSpPr>
        <p:spPr>
          <a:xfrm>
            <a:off x="1028700" y="2905125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1E243-150F-4FAC-A236-BC49BDCD0DD1}"/>
              </a:ext>
            </a:extLst>
          </p:cNvPr>
          <p:cNvSpPr>
            <a:spLocks noGrp="1"/>
          </p:cNvSpPr>
          <p:nvPr/>
        </p:nvSpPr>
        <p:spPr>
          <a:xfrm>
            <a:off x="571500" y="37814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SUBMIT CASE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BDF6E3-E9B8-480C-8990-C1B15A7D2C67}"/>
              </a:ext>
            </a:extLst>
          </p:cNvPr>
          <p:cNvSpPr>
            <a:spLocks noGrp="1"/>
          </p:cNvSpPr>
          <p:nvPr/>
        </p:nvSpPr>
        <p:spPr>
          <a:xfrm>
            <a:off x="476250" y="4133850"/>
            <a:ext cx="1981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Enter the case once</a:t>
            </a:r>
          </a:p>
        </p:txBody>
      </p:sp>
      <p:sp>
        <p:nvSpPr>
          <p:cNvPr id="10" name="app-step-2">
            <a:extLst>
              <a:ext uri="{FF2B5EF4-FFF2-40B4-BE49-F238E27FC236}">
                <a16:creationId xmlns:a16="http://schemas.microsoft.com/office/drawing/2014/main" id="{AC55E9EC-AC84-4CD2-9CEE-9557468366A4}"/>
              </a:ext>
            </a:extLst>
          </p:cNvPr>
          <p:cNvSpPr>
            <a:spLocks noGrp="1"/>
          </p:cNvSpPr>
          <p:nvPr/>
        </p:nvSpPr>
        <p:spPr>
          <a:xfrm>
            <a:off x="3733800" y="2714625"/>
            <a:ext cx="876300" cy="876300"/>
          </a:xfrm>
          <a:prstGeom prst="ellipse">
            <a:avLst/>
          </a:prstGeom>
          <a:solidFill>
            <a:srgbClr val="D7ECE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0FC2D2-327B-43D4-8C80-438CB6658A0C}"/>
              </a:ext>
            </a:extLst>
          </p:cNvPr>
          <p:cNvSpPr>
            <a:spLocks noGrp="1"/>
          </p:cNvSpPr>
          <p:nvPr/>
        </p:nvSpPr>
        <p:spPr>
          <a:xfrm>
            <a:off x="3733800" y="2905125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B4CA5A-03F5-481F-9A9A-DEE0C99B74D5}"/>
              </a:ext>
            </a:extLst>
          </p:cNvPr>
          <p:cNvSpPr>
            <a:spLocks noGrp="1"/>
          </p:cNvSpPr>
          <p:nvPr/>
        </p:nvSpPr>
        <p:spPr>
          <a:xfrm>
            <a:off x="3276600" y="37814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CASE 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641FC3-B38E-405D-9101-D4E91E62BB5E}"/>
              </a:ext>
            </a:extLst>
          </p:cNvPr>
          <p:cNvSpPr>
            <a:spLocks noGrp="1"/>
          </p:cNvSpPr>
          <p:nvPr/>
        </p:nvSpPr>
        <p:spPr>
          <a:xfrm>
            <a:off x="3181350" y="4133850"/>
            <a:ext cx="1981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Receive a trackable identifier</a:t>
            </a:r>
          </a:p>
        </p:txBody>
      </p:sp>
      <p:sp>
        <p:nvSpPr>
          <p:cNvPr id="14" name="app-step-3">
            <a:extLst>
              <a:ext uri="{FF2B5EF4-FFF2-40B4-BE49-F238E27FC236}">
                <a16:creationId xmlns:a16="http://schemas.microsoft.com/office/drawing/2014/main" id="{39B7F909-9FE6-4789-B853-F6F913E4B434}"/>
              </a:ext>
            </a:extLst>
          </p:cNvPr>
          <p:cNvSpPr>
            <a:spLocks noGrp="1"/>
          </p:cNvSpPr>
          <p:nvPr/>
        </p:nvSpPr>
        <p:spPr>
          <a:xfrm>
            <a:off x="6438900" y="2714625"/>
            <a:ext cx="876300" cy="876300"/>
          </a:xfrm>
          <a:prstGeom prst="ellipse">
            <a:avLst/>
          </a:prstGeom>
          <a:solidFill>
            <a:srgbClr val="D7ECE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D8A595-25DD-48D4-A546-D30D21CCF2E2}"/>
              </a:ext>
            </a:extLst>
          </p:cNvPr>
          <p:cNvSpPr>
            <a:spLocks noGrp="1"/>
          </p:cNvSpPr>
          <p:nvPr/>
        </p:nvSpPr>
        <p:spPr>
          <a:xfrm>
            <a:off x="6438900" y="2905125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808745-4E8B-4555-BE74-AC3A511351EA}"/>
              </a:ext>
            </a:extLst>
          </p:cNvPr>
          <p:cNvSpPr>
            <a:spLocks noGrp="1"/>
          </p:cNvSpPr>
          <p:nvPr/>
        </p:nvSpPr>
        <p:spPr>
          <a:xfrm>
            <a:off x="5981700" y="37814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TRACK 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0AABD4-517C-4105-8262-26011FBEDF7C}"/>
              </a:ext>
            </a:extLst>
          </p:cNvPr>
          <p:cNvSpPr>
            <a:spLocks noGrp="1"/>
          </p:cNvSpPr>
          <p:nvPr/>
        </p:nvSpPr>
        <p:spPr>
          <a:xfrm>
            <a:off x="5886450" y="4133850"/>
            <a:ext cx="1981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See progress as it runs</a:t>
            </a:r>
          </a:p>
        </p:txBody>
      </p:sp>
      <p:sp>
        <p:nvSpPr>
          <p:cNvPr id="18" name="app-step-4">
            <a:extLst>
              <a:ext uri="{FF2B5EF4-FFF2-40B4-BE49-F238E27FC236}">
                <a16:creationId xmlns:a16="http://schemas.microsoft.com/office/drawing/2014/main" id="{5B649D69-53BF-44A3-A86B-01F1FD2A5675}"/>
              </a:ext>
            </a:extLst>
          </p:cNvPr>
          <p:cNvSpPr>
            <a:spLocks noGrp="1"/>
          </p:cNvSpPr>
          <p:nvPr/>
        </p:nvSpPr>
        <p:spPr>
          <a:xfrm>
            <a:off x="9144000" y="2714625"/>
            <a:ext cx="876300" cy="876300"/>
          </a:xfrm>
          <a:prstGeom prst="ellipse">
            <a:avLst/>
          </a:prstGeom>
          <a:solidFill>
            <a:srgbClr val="B7E54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E8469E-36EA-4CED-8FB2-AF2B18DA5EB9}"/>
              </a:ext>
            </a:extLst>
          </p:cNvPr>
          <p:cNvSpPr>
            <a:spLocks noGrp="1"/>
          </p:cNvSpPr>
          <p:nvPr/>
        </p:nvSpPr>
        <p:spPr>
          <a:xfrm>
            <a:off x="9144000" y="2905125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AF46C4-EEEA-42DF-9068-5BECC01375D3}"/>
              </a:ext>
            </a:extLst>
          </p:cNvPr>
          <p:cNvSpPr>
            <a:spLocks noGrp="1"/>
          </p:cNvSpPr>
          <p:nvPr/>
        </p:nvSpPr>
        <p:spPr>
          <a:xfrm>
            <a:off x="8686800" y="37814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SECURE 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2B613C-DA07-4C4C-9F4F-9FEED722A409}"/>
              </a:ext>
            </a:extLst>
          </p:cNvPr>
          <p:cNvSpPr>
            <a:spLocks noGrp="1"/>
          </p:cNvSpPr>
          <p:nvPr/>
        </p:nvSpPr>
        <p:spPr>
          <a:xfrm>
            <a:off x="8591550" y="4133850"/>
            <a:ext cx="1981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View only the right case</a:t>
            </a:r>
          </a:p>
        </p:txBody>
      </p:sp>
      <p:cxnSp>
        <p:nvCxnSpPr>
          <p:cNvPr id="22" name="Straight Arrow Connector 21"/>
          <p:cNvCxnSpPr>
            <a:stCxn id="6" idx="6"/>
            <a:endCxn id="10" idx="2"/>
          </p:cNvCxnSpPr>
          <p:nvPr/>
        </p:nvCxnSpPr>
        <p:spPr>
          <a:xfrm>
            <a:off x="1905000" y="3152775"/>
            <a:ext cx="182880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3" name="Straight Arrow Connector 22"/>
          <p:cNvCxnSpPr>
            <a:stCxn id="10" idx="6"/>
            <a:endCxn id="14" idx="2"/>
          </p:cNvCxnSpPr>
          <p:nvPr/>
        </p:nvCxnSpPr>
        <p:spPr>
          <a:xfrm>
            <a:off x="4610100" y="3152775"/>
            <a:ext cx="182880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4" name="Straight Arrow Connector 23"/>
          <p:cNvCxnSpPr>
            <a:stCxn id="14" idx="6"/>
            <a:endCxn id="18" idx="2"/>
          </p:cNvCxnSpPr>
          <p:nvPr/>
        </p:nvCxnSpPr>
        <p:spPr>
          <a:xfrm>
            <a:off x="7315200" y="3152775"/>
            <a:ext cx="1828800" cy="0"/>
          </a:xfrm>
          <a:prstGeom prst="straightConnector1">
            <a:avLst/>
          </a:prstGeom>
          <a:ln w="28575">
            <a:solidFill>
              <a:srgbClr val="007C78"/>
            </a:solidFill>
            <a:prstDash val="solid"/>
            <a:tailEnd type="arrow" w="sm" len="sm"/>
          </a:ln>
        </p:spPr>
      </p:cxn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4E553E1-B0E9-4C8B-8DA3-7179862A113F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F7F9D7-3056-4E5C-A2D3-2BE189518631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A clear case ID turns a submission into a visible journey.</a:t>
            </a:r>
          </a:p>
        </p:txBody>
      </p:sp>
    </p:spTree>
    <p:extLst>
      <p:ext uri="{BB962C8B-B14F-4D97-AF65-F5344CB8AC3E}">
        <p14:creationId xmlns:p14="http://schemas.microsoft.com/office/powerpoint/2010/main" val="15633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14ECBC2-05CE-45CD-B108-5A5665F0549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AAD7E8E-293B-449B-AF2A-07F6B6CE301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1422A6-A34F-4F20-A4BE-268C55A14FC8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B42A5-DA86-48B1-B360-CE561E84FEC9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ADMIN VIEW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EC4591F7-08D0-49F2-A332-7A1CB3E1C284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One operational view keeps every case visible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B8291-97B8-4C48-9E87-48694F88F9E4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B924-3839-4A28-83B0-55B4427184C6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342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CASES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0217A-05F5-4AEE-AA5F-5CC31CC94A79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361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One place to monitor workload, processing and output.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A221AE-61E9-493E-A230-DD6DDF6DF67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3143250" cy="76200"/>
          </a:xfrm>
          <a:prstGeom prst="rect">
            <a:avLst/>
          </a:prstGeom>
          <a:solidFill>
            <a:srgbClr val="B7E547"/>
          </a:solidFill>
          <a:ln w="0">
            <a:solidFill>
              <a:srgbClr val="B7E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4BD2BD-3C31-4910-854D-8E267D761F4C}"/>
              </a:ext>
            </a:extLst>
          </p:cNvPr>
          <p:cNvSpPr>
            <a:spLocks noGrp="1"/>
          </p:cNvSpPr>
          <p:nvPr/>
        </p:nvSpPr>
        <p:spPr>
          <a:xfrm>
            <a:off x="5391150" y="23812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EF5FE1-D5E1-48DC-8A4D-3779341E558C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VISIBILITY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98B70-35C9-4941-8936-F7FF8AEEE8B6}"/>
              </a:ext>
            </a:extLst>
          </p:cNvPr>
          <p:cNvSpPr>
            <a:spLocks noGrp="1"/>
          </p:cNvSpPr>
          <p:nvPr/>
        </p:nvSpPr>
        <p:spPr>
          <a:xfrm>
            <a:off x="8591550" y="23812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All cases visible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596661D-5D21-4854-9524-AB4E7D4560DE}"/>
              </a:ext>
            </a:extLst>
          </p:cNvPr>
          <p:cNvSpPr>
            <a:spLocks noGrp="1"/>
          </p:cNvSpPr>
          <p:nvPr/>
        </p:nvSpPr>
        <p:spPr>
          <a:xfrm>
            <a:off x="5391150" y="2895600"/>
            <a:ext cx="58483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67D03E-B054-43DB-96AF-13A05EBFEAAB}"/>
              </a:ext>
            </a:extLst>
          </p:cNvPr>
          <p:cNvSpPr>
            <a:spLocks noGrp="1"/>
          </p:cNvSpPr>
          <p:nvPr/>
        </p:nvSpPr>
        <p:spPr>
          <a:xfrm>
            <a:off x="5391150" y="34480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8D5A9-19E4-4971-ABE3-F0A9FF2471FC}"/>
              </a:ext>
            </a:extLst>
          </p:cNvPr>
          <p:cNvSpPr>
            <a:spLocks noGrp="1"/>
          </p:cNvSpPr>
          <p:nvPr/>
        </p:nvSpPr>
        <p:spPr>
          <a:xfrm>
            <a:off x="6057900" y="344805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959326-3AAC-4D87-91D6-DE004C6E3E2A}"/>
              </a:ext>
            </a:extLst>
          </p:cNvPr>
          <p:cNvSpPr>
            <a:spLocks noGrp="1"/>
          </p:cNvSpPr>
          <p:nvPr/>
        </p:nvSpPr>
        <p:spPr>
          <a:xfrm>
            <a:off x="8591550" y="34480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Processing status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F248B38-622D-4340-A8FB-BBEA49DDAA6E}"/>
              </a:ext>
            </a:extLst>
          </p:cNvPr>
          <p:cNvSpPr>
            <a:spLocks noGrp="1"/>
          </p:cNvSpPr>
          <p:nvPr/>
        </p:nvSpPr>
        <p:spPr>
          <a:xfrm>
            <a:off x="5391150" y="3962400"/>
            <a:ext cx="58483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EE12C-AAEB-4053-A8C0-80331548D380}"/>
              </a:ext>
            </a:extLst>
          </p:cNvPr>
          <p:cNvSpPr>
            <a:spLocks noGrp="1"/>
          </p:cNvSpPr>
          <p:nvPr/>
        </p:nvSpPr>
        <p:spPr>
          <a:xfrm>
            <a:off x="5391150" y="45148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E7E487-428E-4010-AAF0-EFE848E912CF}"/>
              </a:ext>
            </a:extLst>
          </p:cNvPr>
          <p:cNvSpPr>
            <a:spLocks noGrp="1"/>
          </p:cNvSpPr>
          <p:nvPr/>
        </p:nvSpPr>
        <p:spPr>
          <a:xfrm>
            <a:off x="6057900" y="451485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96A6B2-7F47-4ABD-915D-87CCD2FEC6BD}"/>
              </a:ext>
            </a:extLst>
          </p:cNvPr>
          <p:cNvSpPr>
            <a:spLocks noGrp="1"/>
          </p:cNvSpPr>
          <p:nvPr/>
        </p:nvSpPr>
        <p:spPr>
          <a:xfrm>
            <a:off x="8591550" y="45148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Results dashboard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5EBACB6-4DE8-4A7A-A9AC-96ECF88D7343}"/>
              </a:ext>
            </a:extLst>
          </p:cNvPr>
          <p:cNvSpPr>
            <a:spLocks noGrp="1"/>
          </p:cNvSpPr>
          <p:nvPr/>
        </p:nvSpPr>
        <p:spPr>
          <a:xfrm>
            <a:off x="5391150" y="5029200"/>
            <a:ext cx="5848350" cy="0"/>
          </a:xfrm>
          <a:prstGeom prst="line">
            <a:avLst/>
          </a:prstGeom>
          <a:noFill/>
          <a:ln w="38100">
            <a:solidFill>
              <a:srgbClr val="B7E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85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BE9E1C-7432-45A8-9721-DABC2EDE5BE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E164D9D-893C-4F8F-9269-58E5A9E5B26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E403E-4592-4D2A-AA44-310BB32BA97E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0A5D5B-7B73-444C-9635-D0CC68095F1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A10BE303-E677-4805-BA57-B0B1FE7EADA0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Sheets, orchestration and AI keep the pipeline moving</a:t>
            </a:r>
          </a:p>
        </p:txBody>
      </p:sp>
      <p:sp>
        <p:nvSpPr>
          <p:cNvPr id="6" name="backend-1">
            <a:extLst>
              <a:ext uri="{FF2B5EF4-FFF2-40B4-BE49-F238E27FC236}">
                <a16:creationId xmlns:a16="http://schemas.microsoft.com/office/drawing/2014/main" id="{91EE471F-79F1-426E-BE33-63FBBBEDF23D}"/>
              </a:ext>
            </a:extLst>
          </p:cNvPr>
          <p:cNvSpPr>
            <a:spLocks noGrp="1"/>
          </p:cNvSpPr>
          <p:nvPr/>
        </p:nvSpPr>
        <p:spPr>
          <a:xfrm>
            <a:off x="1352550" y="2238375"/>
            <a:ext cx="34290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743A62-5C3B-4441-B0ED-8E8460C40421}"/>
              </a:ext>
            </a:extLst>
          </p:cNvPr>
          <p:cNvSpPr>
            <a:spLocks noGrp="1"/>
          </p:cNvSpPr>
          <p:nvPr/>
        </p:nvSpPr>
        <p:spPr>
          <a:xfrm>
            <a:off x="1466850" y="2333625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GOOGLE SHEET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BDE4C-E37A-47DD-B9FD-239C5E785E69}"/>
              </a:ext>
            </a:extLst>
          </p:cNvPr>
          <p:cNvSpPr>
            <a:spLocks noGrp="1"/>
          </p:cNvSpPr>
          <p:nvPr/>
        </p:nvSpPr>
        <p:spPr>
          <a:xfrm>
            <a:off x="5715000" y="23336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INPUT STORE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23D4858-E2E1-41D8-BF22-67D7EE42AE76}"/>
              </a:ext>
            </a:extLst>
          </p:cNvPr>
          <p:cNvSpPr>
            <a:spLocks noGrp="1"/>
          </p:cNvSpPr>
          <p:nvPr/>
        </p:nvSpPr>
        <p:spPr>
          <a:xfrm>
            <a:off x="5715000" y="2600325"/>
            <a:ext cx="44767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backend-2">
            <a:extLst>
              <a:ext uri="{FF2B5EF4-FFF2-40B4-BE49-F238E27FC236}">
                <a16:creationId xmlns:a16="http://schemas.microsoft.com/office/drawing/2014/main" id="{E1419254-19D8-40C1-AF7C-CE0980A12813}"/>
              </a:ext>
            </a:extLst>
          </p:cNvPr>
          <p:cNvSpPr>
            <a:spLocks noGrp="1"/>
          </p:cNvSpPr>
          <p:nvPr/>
        </p:nvSpPr>
        <p:spPr>
          <a:xfrm>
            <a:off x="1352550" y="2981325"/>
            <a:ext cx="34290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4E6A5E-394F-4DC1-AB73-8616C08904B9}"/>
              </a:ext>
            </a:extLst>
          </p:cNvPr>
          <p:cNvSpPr>
            <a:spLocks noGrp="1"/>
          </p:cNvSpPr>
          <p:nvPr/>
        </p:nvSpPr>
        <p:spPr>
          <a:xfrm>
            <a:off x="1466850" y="3076575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n8n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996378-ED41-4EAD-BBB0-260CB69B8BC7}"/>
              </a:ext>
            </a:extLst>
          </p:cNvPr>
          <p:cNvSpPr>
            <a:spLocks noGrp="1"/>
          </p:cNvSpPr>
          <p:nvPr/>
        </p:nvSpPr>
        <p:spPr>
          <a:xfrm>
            <a:off x="5715000" y="30765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3341AC9-F350-4DAC-9BB2-AF8FC7C1D887}"/>
              </a:ext>
            </a:extLst>
          </p:cNvPr>
          <p:cNvSpPr>
            <a:spLocks noGrp="1"/>
          </p:cNvSpPr>
          <p:nvPr/>
        </p:nvSpPr>
        <p:spPr>
          <a:xfrm>
            <a:off x="5715000" y="3343275"/>
            <a:ext cx="44767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backend-3">
            <a:extLst>
              <a:ext uri="{FF2B5EF4-FFF2-40B4-BE49-F238E27FC236}">
                <a16:creationId xmlns:a16="http://schemas.microsoft.com/office/drawing/2014/main" id="{34328FA1-042A-41EF-8AF4-263C402B1372}"/>
              </a:ext>
            </a:extLst>
          </p:cNvPr>
          <p:cNvSpPr>
            <a:spLocks noGrp="1"/>
          </p:cNvSpPr>
          <p:nvPr/>
        </p:nvSpPr>
        <p:spPr>
          <a:xfrm>
            <a:off x="1352550" y="3724275"/>
            <a:ext cx="3429000" cy="476250"/>
          </a:xfrm>
          <a:prstGeom prst="rect">
            <a:avLst/>
          </a:prstGeom>
          <a:solidFill>
            <a:srgbClr val="B7E54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2A831F-27FD-4C57-82C8-FB7B5069E755}"/>
              </a:ext>
            </a:extLst>
          </p:cNvPr>
          <p:cNvSpPr>
            <a:spLocks noGrp="1"/>
          </p:cNvSpPr>
          <p:nvPr/>
        </p:nvSpPr>
        <p:spPr>
          <a:xfrm>
            <a:off x="1466850" y="3819525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AI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2989E9-46A5-4ACF-BD9F-7F9A0A0F3C7E}"/>
              </a:ext>
            </a:extLst>
          </p:cNvPr>
          <p:cNvSpPr>
            <a:spLocks noGrp="1"/>
          </p:cNvSpPr>
          <p:nvPr/>
        </p:nvSpPr>
        <p:spPr>
          <a:xfrm>
            <a:off x="5715000" y="38195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C3A8C15-4B0E-4FDE-A9F6-44CA9D3E7BE4}"/>
              </a:ext>
            </a:extLst>
          </p:cNvPr>
          <p:cNvSpPr>
            <a:spLocks noGrp="1"/>
          </p:cNvSpPr>
          <p:nvPr/>
        </p:nvSpPr>
        <p:spPr>
          <a:xfrm>
            <a:off x="5715000" y="4086225"/>
            <a:ext cx="44767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backend-4">
            <a:extLst>
              <a:ext uri="{FF2B5EF4-FFF2-40B4-BE49-F238E27FC236}">
                <a16:creationId xmlns:a16="http://schemas.microsoft.com/office/drawing/2014/main" id="{B442E3A1-C9AD-46B8-A5BB-F2984F961F43}"/>
              </a:ext>
            </a:extLst>
          </p:cNvPr>
          <p:cNvSpPr>
            <a:spLocks noGrp="1"/>
          </p:cNvSpPr>
          <p:nvPr/>
        </p:nvSpPr>
        <p:spPr>
          <a:xfrm>
            <a:off x="1352550" y="4467225"/>
            <a:ext cx="34290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C2FF7D-9139-4051-8B07-DB89BC5366EB}"/>
              </a:ext>
            </a:extLst>
          </p:cNvPr>
          <p:cNvSpPr>
            <a:spLocks noGrp="1"/>
          </p:cNvSpPr>
          <p:nvPr/>
        </p:nvSpPr>
        <p:spPr>
          <a:xfrm>
            <a:off x="1466850" y="4562475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AUTOMATED WRITES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90BDC6-910F-4AF2-BC05-59B92ECB0426}"/>
              </a:ext>
            </a:extLst>
          </p:cNvPr>
          <p:cNvSpPr>
            <a:spLocks noGrp="1"/>
          </p:cNvSpPr>
          <p:nvPr/>
        </p:nvSpPr>
        <p:spPr>
          <a:xfrm>
            <a:off x="5715000" y="45624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SYSTEM ACTION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9C0F963-8F4C-47DD-923D-B8EE2EA3901A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44767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backend-5">
            <a:extLst>
              <a:ext uri="{FF2B5EF4-FFF2-40B4-BE49-F238E27FC236}">
                <a16:creationId xmlns:a16="http://schemas.microsoft.com/office/drawing/2014/main" id="{F0498D16-E8AF-49ED-B922-A828822C5986}"/>
              </a:ext>
            </a:extLst>
          </p:cNvPr>
          <p:cNvSpPr>
            <a:spLocks noGrp="1"/>
          </p:cNvSpPr>
          <p:nvPr/>
        </p:nvSpPr>
        <p:spPr>
          <a:xfrm>
            <a:off x="1352550" y="5210175"/>
            <a:ext cx="34290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774E9-1422-4631-BCFC-410921D3E0D0}"/>
              </a:ext>
            </a:extLst>
          </p:cNvPr>
          <p:cNvSpPr>
            <a:spLocks noGrp="1"/>
          </p:cNvSpPr>
          <p:nvPr/>
        </p:nvSpPr>
        <p:spPr>
          <a:xfrm>
            <a:off x="1466850" y="5305425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7C78"/>
                </a:solidFill>
                <a:latin typeface="Aptos Display"/>
                <a:ea typeface="Aptos Display"/>
                <a:cs typeface="Aptos Display"/>
              </a:rPr>
              <a:t>GOOGLE SHEET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43CE3C-DC49-4F48-A005-C3F63B846BFC}"/>
              </a:ext>
            </a:extLst>
          </p:cNvPr>
          <p:cNvSpPr>
            <a:spLocks noGrp="1"/>
          </p:cNvSpPr>
          <p:nvPr/>
        </p:nvSpPr>
        <p:spPr>
          <a:xfrm>
            <a:off x="5715000" y="53054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OUTPUT STORE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9C2CDC9-B8C1-4BC7-869E-7153F64A515F}"/>
              </a:ext>
            </a:extLst>
          </p:cNvPr>
          <p:cNvSpPr>
            <a:spLocks noGrp="1"/>
          </p:cNvSpPr>
          <p:nvPr/>
        </p:nvSpPr>
        <p:spPr>
          <a:xfrm>
            <a:off x="5715000" y="5572125"/>
            <a:ext cx="447675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26" name="Straight Arrow Connector 25"/>
          <p:cNvCxnSpPr>
            <a:stCxn id="6" idx="2"/>
            <a:endCxn id="10" idx="0"/>
          </p:cNvCxnSpPr>
          <p:nvPr/>
        </p:nvCxnSpPr>
        <p:spPr>
          <a:xfrm>
            <a:off x="3067050" y="2714625"/>
            <a:ext cx="0" cy="26670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7" name="Straight Arrow Connector 26"/>
          <p:cNvCxnSpPr>
            <a:stCxn id="10" idx="2"/>
            <a:endCxn id="14" idx="0"/>
          </p:cNvCxnSpPr>
          <p:nvPr/>
        </p:nvCxnSpPr>
        <p:spPr>
          <a:xfrm>
            <a:off x="3067050" y="3457575"/>
            <a:ext cx="0" cy="26670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8" name="Straight Arrow Connector 27"/>
          <p:cNvCxnSpPr>
            <a:stCxn id="14" idx="2"/>
            <a:endCxn id="18" idx="0"/>
          </p:cNvCxnSpPr>
          <p:nvPr/>
        </p:nvCxnSpPr>
        <p:spPr>
          <a:xfrm>
            <a:off x="3067050" y="4200525"/>
            <a:ext cx="0" cy="26670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  <a:tailEnd type="arrow" w="sm" len="sm"/>
          </a:ln>
        </p:spPr>
      </p:cxnSp>
      <p:cxnSp>
        <p:nvCxnSpPr>
          <p:cNvPr id="29" name="Straight Arrow Connector 28"/>
          <p:cNvCxnSpPr>
            <a:stCxn id="18" idx="2"/>
            <a:endCxn id="22" idx="0"/>
          </p:cNvCxnSpPr>
          <p:nvPr/>
        </p:nvCxnSpPr>
        <p:spPr>
          <a:xfrm>
            <a:off x="3067050" y="4943475"/>
            <a:ext cx="0" cy="26670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  <a:tailEnd type="arrow" w="sm" len="sm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BDF40F6-3591-4443-8E66-6882668EB0A5}"/>
              </a:ext>
            </a:extLst>
          </p:cNvPr>
          <p:cNvSpPr>
            <a:spLocks noGrp="1"/>
          </p:cNvSpPr>
          <p:nvPr/>
        </p:nvSpPr>
        <p:spPr>
          <a:xfrm>
            <a:off x="10001250" y="22383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5B9FC0-D5B1-4EC2-BAA6-53BBC72F716B}"/>
              </a:ext>
            </a:extLst>
          </p:cNvPr>
          <p:cNvSpPr>
            <a:spLocks noGrp="1"/>
          </p:cNvSpPr>
          <p:nvPr/>
        </p:nvSpPr>
        <p:spPr>
          <a:xfrm>
            <a:off x="10001250" y="52101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94872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CD64CA2-B672-43E0-AAAB-1238F4EB008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7F6DC89-D319-47EB-ABF2-00A5587CDFB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47362-0FF5-412C-A5A3-783FC0DDC4A1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F998BE-8A8D-414B-9CCA-4C6664F1CC85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B669B897-A70B-46D2-9D62-A1B62612D71C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Automation is designed to scale without hiding the result</a:t>
            </a:r>
          </a:p>
        </p:txBody>
      </p:sp>
      <p:sp>
        <p:nvSpPr>
          <p:cNvPr id="6" name="feature-hub">
            <a:extLst>
              <a:ext uri="{FF2B5EF4-FFF2-40B4-BE49-F238E27FC236}">
                <a16:creationId xmlns:a16="http://schemas.microsoft.com/office/drawing/2014/main" id="{98EB5527-31BC-4378-8500-0E2E579A6E59}"/>
              </a:ext>
            </a:extLst>
          </p:cNvPr>
          <p:cNvSpPr>
            <a:spLocks noGrp="1"/>
          </p:cNvSpPr>
          <p:nvPr/>
        </p:nvSpPr>
        <p:spPr>
          <a:xfrm>
            <a:off x="4953000" y="2686050"/>
            <a:ext cx="2286000" cy="2286000"/>
          </a:xfrm>
          <a:prstGeom prst="ellipse">
            <a:avLst/>
          </a:prstGeom>
          <a:solidFill>
            <a:srgbClr val="007C78"/>
          </a:solidFill>
          <a:ln w="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A534A7-823A-4B18-AD3F-3689EA6FA434}"/>
              </a:ext>
            </a:extLst>
          </p:cNvPr>
          <p:cNvSpPr>
            <a:spLocks noGrp="1"/>
          </p:cNvSpPr>
          <p:nvPr/>
        </p:nvSpPr>
        <p:spPr>
          <a:xfrm>
            <a:off x="4953000" y="34480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MortgageAI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D16A37-A5DF-424A-9372-91DE7F78A51C}"/>
              </a:ext>
            </a:extLst>
          </p:cNvPr>
          <p:cNvSpPr>
            <a:spLocks noGrp="1"/>
          </p:cNvSpPr>
          <p:nvPr/>
        </p:nvSpPr>
        <p:spPr>
          <a:xfrm>
            <a:off x="4953000" y="3857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D7EC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ECE7"/>
                </a:solidFill>
                <a:latin typeface="Aptos"/>
                <a:ea typeface="Aptos"/>
                <a:cs typeface="Aptos"/>
              </a:rPr>
              <a:t>AUTOMATED CASE</a:t>
            </a:r>
          </a:p>
          <a:p>
            <a:pPr algn="ctr">
              <a:defRPr sz="1050" b="1">
                <a:solidFill>
                  <a:srgbClr val="D7EC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ECE7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9" name="feature-1">
            <a:extLst>
              <a:ext uri="{FF2B5EF4-FFF2-40B4-BE49-F238E27FC236}">
                <a16:creationId xmlns:a16="http://schemas.microsoft.com/office/drawing/2014/main" id="{EF8BDBB3-2E14-4057-82DC-BE45697B3392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93EFA6-66D0-42B6-B855-0E8D9F496105}"/>
              </a:ext>
            </a:extLst>
          </p:cNvPr>
          <p:cNvSpPr>
            <a:spLocks noGrp="1"/>
          </p:cNvSpPr>
          <p:nvPr/>
        </p:nvSpPr>
        <p:spPr>
          <a:xfrm>
            <a:off x="1143000" y="249555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SECURE VIEWS</a:t>
            </a:r>
          </a:p>
        </p:txBody>
      </p:sp>
      <p:cxnSp>
        <p:nvCxnSpPr>
          <p:cNvPr id="11" name="Straight Arrow Connector 10"/>
          <p:cNvCxnSpPr>
            <a:stCxn id="6" idx="2"/>
            <a:endCxn id="9" idx="3"/>
          </p:cNvCxnSpPr>
          <p:nvPr/>
        </p:nvCxnSpPr>
        <p:spPr>
          <a:xfrm flipH="1" flipV="1">
            <a:off x="3143250" y="2724150"/>
            <a:ext cx="1809750" cy="110490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</a:ln>
        </p:spPr>
      </p:cxnSp>
      <p:sp>
        <p:nvSpPr>
          <p:cNvPr id="12" name="feature-2">
            <a:extLst>
              <a:ext uri="{FF2B5EF4-FFF2-40B4-BE49-F238E27FC236}">
                <a16:creationId xmlns:a16="http://schemas.microsoft.com/office/drawing/2014/main" id="{2ADF84C4-191C-4291-A748-44C9768EA590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A0CF55-9780-4D9C-B807-B6EB1E109AF2}"/>
              </a:ext>
            </a:extLst>
          </p:cNvPr>
          <p:cNvSpPr>
            <a:spLocks noGrp="1"/>
          </p:cNvSpPr>
          <p:nvPr/>
        </p:nvSpPr>
        <p:spPr>
          <a:xfrm>
            <a:off x="1219200" y="47625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BATCH PROCESSING</a:t>
            </a:r>
          </a:p>
        </p:txBody>
      </p:sp>
      <p:cxnSp>
        <p:nvCxnSpPr>
          <p:cNvPr id="14" name="Straight Arrow Connector 13"/>
          <p:cNvCxnSpPr>
            <a:stCxn id="6" idx="2"/>
            <a:endCxn id="12" idx="3"/>
          </p:cNvCxnSpPr>
          <p:nvPr/>
        </p:nvCxnSpPr>
        <p:spPr>
          <a:xfrm flipH="1">
            <a:off x="3219450" y="3829050"/>
            <a:ext cx="1733550" cy="116205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</a:ln>
        </p:spPr>
      </p:cxnSp>
      <p:sp>
        <p:nvSpPr>
          <p:cNvPr id="15" name="feature-3">
            <a:extLst>
              <a:ext uri="{FF2B5EF4-FFF2-40B4-BE49-F238E27FC236}">
                <a16:creationId xmlns:a16="http://schemas.microsoft.com/office/drawing/2014/main" id="{29E7857F-A475-4504-AA30-6B73A076103A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F638B1-B13B-431D-993A-B77819873A44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CLOUD DEPLOYED</a:t>
            </a:r>
          </a:p>
        </p:txBody>
      </p:sp>
      <p:cxnSp>
        <p:nvCxnSpPr>
          <p:cNvPr id="17" name="Straight Arrow Connector 16"/>
          <p:cNvCxnSpPr>
            <a:stCxn id="6" idx="6"/>
            <a:endCxn id="15" idx="1"/>
          </p:cNvCxnSpPr>
          <p:nvPr/>
        </p:nvCxnSpPr>
        <p:spPr>
          <a:xfrm flipV="1">
            <a:off x="7239000" y="2705100"/>
            <a:ext cx="1238250" cy="112395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</a:ln>
        </p:spPr>
      </p:cxnSp>
      <p:sp>
        <p:nvSpPr>
          <p:cNvPr id="18" name="feature-4">
            <a:extLst>
              <a:ext uri="{FF2B5EF4-FFF2-40B4-BE49-F238E27FC236}">
                <a16:creationId xmlns:a16="http://schemas.microsoft.com/office/drawing/2014/main" id="{75AC6CB4-EB91-4A6B-855A-BEE6E362BFBC}"/>
              </a:ext>
            </a:extLst>
          </p:cNvPr>
          <p:cNvSpPr>
            <a:spLocks noGrp="1"/>
          </p:cNvSpPr>
          <p:nvPr/>
        </p:nvSpPr>
        <p:spPr>
          <a:xfrm>
            <a:off x="8858250" y="466725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2F6B0A-8821-4D73-BB9E-23C691AA30DB}"/>
              </a:ext>
            </a:extLst>
          </p:cNvPr>
          <p:cNvSpPr>
            <a:spLocks noGrp="1"/>
          </p:cNvSpPr>
          <p:nvPr/>
        </p:nvSpPr>
        <p:spPr>
          <a:xfrm>
            <a:off x="8953500" y="47625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SCALABLE</a:t>
            </a:r>
          </a:p>
        </p:txBody>
      </p:sp>
      <p:cxnSp>
        <p:nvCxnSpPr>
          <p:cNvPr id="20" name="Straight Arrow Connector 19"/>
          <p:cNvCxnSpPr>
            <a:stCxn id="6" idx="6"/>
            <a:endCxn id="18" idx="1"/>
          </p:cNvCxnSpPr>
          <p:nvPr/>
        </p:nvCxnSpPr>
        <p:spPr>
          <a:xfrm>
            <a:off x="7239000" y="3829050"/>
            <a:ext cx="1619250" cy="116205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</a:ln>
        </p:spPr>
      </p:cxnSp>
      <p:sp>
        <p:nvSpPr>
          <p:cNvPr id="21" name="feature-5">
            <a:extLst>
              <a:ext uri="{FF2B5EF4-FFF2-40B4-BE49-F238E27FC236}">
                <a16:creationId xmlns:a16="http://schemas.microsoft.com/office/drawing/2014/main" id="{5BFF1721-BF13-4554-A99A-1E97AB9AE7E7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2095500" cy="647700"/>
          </a:xfrm>
          <a:prstGeom prst="rect">
            <a:avLst/>
          </a:prstGeom>
          <a:solidFill>
            <a:srgbClr val="B7E54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924DF3-A698-4CD8-97F8-3FFA0AB97A4D}"/>
              </a:ext>
            </a:extLst>
          </p:cNvPr>
          <p:cNvSpPr>
            <a:spLocks noGrp="1"/>
          </p:cNvSpPr>
          <p:nvPr/>
        </p:nvSpPr>
        <p:spPr>
          <a:xfrm>
            <a:off x="8324850" y="36195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REAL-TIME RESULTS</a:t>
            </a:r>
          </a:p>
        </p:txBody>
      </p:sp>
      <p:cxnSp>
        <p:nvCxnSpPr>
          <p:cNvPr id="23" name="Straight Arrow Connector 22"/>
          <p:cNvCxnSpPr>
            <a:stCxn id="6" idx="6"/>
            <a:endCxn id="21" idx="1"/>
          </p:cNvCxnSpPr>
          <p:nvPr/>
        </p:nvCxnSpPr>
        <p:spPr>
          <a:xfrm>
            <a:off x="7239000" y="3829050"/>
            <a:ext cx="990600" cy="19050"/>
          </a:xfrm>
          <a:prstGeom prst="straightConnector1">
            <a:avLst/>
          </a:prstGeom>
          <a:ln w="19050">
            <a:solidFill>
              <a:srgbClr val="007C78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6787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E1F1986-72F4-4690-B756-8A3BC44CFC3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D3BD6C4-24E7-44AD-AC1D-338B964BADB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2305C1-9F36-45D7-BE06-BF47C1911B25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5812FF-9F13-4E15-B75E-0A5F2D5397B7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3AFCAA02-CC05-49F7-95F6-62D8C821B05C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Seven technologies form one lightweight delivery stack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A9AF303-88AC-42D3-A975-3C3CFCE99F11}"/>
              </a:ext>
            </a:extLst>
          </p:cNvPr>
          <p:cNvSpPr>
            <a:spLocks noGrp="1"/>
          </p:cNvSpPr>
          <p:nvPr/>
        </p:nvSpPr>
        <p:spPr>
          <a:xfrm>
            <a:off x="6096000" y="2133600"/>
            <a:ext cx="0" cy="3333750"/>
          </a:xfrm>
          <a:prstGeom prst="line">
            <a:avLst/>
          </a:prstGeom>
          <a:noFill/>
          <a:ln w="28575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858A2C-4833-4101-AFB4-C6E863B7AEA1}"/>
              </a:ext>
            </a:extLst>
          </p:cNvPr>
          <p:cNvSpPr>
            <a:spLocks noGrp="1"/>
          </p:cNvSpPr>
          <p:nvPr/>
        </p:nvSpPr>
        <p:spPr>
          <a:xfrm>
            <a:off x="5895975" y="2152650"/>
            <a:ext cx="400050" cy="400050"/>
          </a:xfrm>
          <a:prstGeom prst="ellipse">
            <a:avLst/>
          </a:prstGeom>
          <a:solidFill>
            <a:srgbClr val="F8F5EE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1ECCC-8075-49C3-BF4C-7A3C3CAE5D72}"/>
              </a:ext>
            </a:extLst>
          </p:cNvPr>
          <p:cNvSpPr>
            <a:spLocks noGrp="1"/>
          </p:cNvSpPr>
          <p:nvPr/>
        </p:nvSpPr>
        <p:spPr>
          <a:xfrm>
            <a:off x="5895975" y="22479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970313-174F-415D-8FCA-DF2877EA5744}"/>
              </a:ext>
            </a:extLst>
          </p:cNvPr>
          <p:cNvSpPr>
            <a:spLocks noGrp="1"/>
          </p:cNvSpPr>
          <p:nvPr/>
        </p:nvSpPr>
        <p:spPr>
          <a:xfrm>
            <a:off x="1600200" y="21050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LOVABLE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B9F1E-F36A-4B3F-98AC-13C440A4B9E8}"/>
              </a:ext>
            </a:extLst>
          </p:cNvPr>
          <p:cNvSpPr>
            <a:spLocks noGrp="1"/>
          </p:cNvSpPr>
          <p:nvPr/>
        </p:nvSpPr>
        <p:spPr>
          <a:xfrm>
            <a:off x="1600200" y="2362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2A9ABAB-C12C-49EE-B572-F8A9D168F01B}"/>
              </a:ext>
            </a:extLst>
          </p:cNvPr>
          <p:cNvSpPr>
            <a:spLocks noGrp="1"/>
          </p:cNvSpPr>
          <p:nvPr/>
        </p:nvSpPr>
        <p:spPr>
          <a:xfrm>
            <a:off x="5600700" y="2352675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F649B2-1A80-49B2-AFA5-C9DD2CF7B724}"/>
              </a:ext>
            </a:extLst>
          </p:cNvPr>
          <p:cNvSpPr>
            <a:spLocks noGrp="1"/>
          </p:cNvSpPr>
          <p:nvPr/>
        </p:nvSpPr>
        <p:spPr>
          <a:xfrm>
            <a:off x="5895975" y="2676525"/>
            <a:ext cx="400050" cy="400050"/>
          </a:xfrm>
          <a:prstGeom prst="ellipse">
            <a:avLst/>
          </a:prstGeom>
          <a:solidFill>
            <a:srgbClr val="F8F5EE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FCE6F-7E53-4E19-B4D2-C4A1033D41F0}"/>
              </a:ext>
            </a:extLst>
          </p:cNvPr>
          <p:cNvSpPr>
            <a:spLocks noGrp="1"/>
          </p:cNvSpPr>
          <p:nvPr/>
        </p:nvSpPr>
        <p:spPr>
          <a:xfrm>
            <a:off x="5895975" y="27717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59200-80F7-4AF4-874C-55E802BAB9D2}"/>
              </a:ext>
            </a:extLst>
          </p:cNvPr>
          <p:cNvSpPr>
            <a:spLocks noGrp="1"/>
          </p:cNvSpPr>
          <p:nvPr/>
        </p:nvSpPr>
        <p:spPr>
          <a:xfrm>
            <a:off x="6591300" y="26289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GOOGLE SHEETS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D90857-A368-4B93-99FA-62377A7B4C88}"/>
              </a:ext>
            </a:extLst>
          </p:cNvPr>
          <p:cNvSpPr>
            <a:spLocks noGrp="1"/>
          </p:cNvSpPr>
          <p:nvPr/>
        </p:nvSpPr>
        <p:spPr>
          <a:xfrm>
            <a:off x="6591300" y="28860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C72684B-40B3-4924-9A76-B9792EDE944F}"/>
              </a:ext>
            </a:extLst>
          </p:cNvPr>
          <p:cNvSpPr>
            <a:spLocks noGrp="1"/>
          </p:cNvSpPr>
          <p:nvPr/>
        </p:nvSpPr>
        <p:spPr>
          <a:xfrm>
            <a:off x="6296025" y="2876550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94600E-825A-498A-B5F2-E8875A5192A7}"/>
              </a:ext>
            </a:extLst>
          </p:cNvPr>
          <p:cNvSpPr>
            <a:spLocks noGrp="1"/>
          </p:cNvSpPr>
          <p:nvPr/>
        </p:nvSpPr>
        <p:spPr>
          <a:xfrm>
            <a:off x="5895975" y="3200400"/>
            <a:ext cx="400050" cy="400050"/>
          </a:xfrm>
          <a:prstGeom prst="ellipse">
            <a:avLst/>
          </a:prstGeom>
          <a:solidFill>
            <a:srgbClr val="F8F5EE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7F915-FF67-4388-97E1-E56016777288}"/>
              </a:ext>
            </a:extLst>
          </p:cNvPr>
          <p:cNvSpPr>
            <a:spLocks noGrp="1"/>
          </p:cNvSpPr>
          <p:nvPr/>
        </p:nvSpPr>
        <p:spPr>
          <a:xfrm>
            <a:off x="5895975" y="32956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032DC-F3E5-4E2E-ABC7-4859D1A441BC}"/>
              </a:ext>
            </a:extLst>
          </p:cNvPr>
          <p:cNvSpPr>
            <a:spLocks noGrp="1"/>
          </p:cNvSpPr>
          <p:nvPr/>
        </p:nvSpPr>
        <p:spPr>
          <a:xfrm>
            <a:off x="1600200" y="31527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APPS SCRIPT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EBF6C-F3F1-4065-9AAA-39BEE0C9AFE1}"/>
              </a:ext>
            </a:extLst>
          </p:cNvPr>
          <p:cNvSpPr>
            <a:spLocks noGrp="1"/>
          </p:cNvSpPr>
          <p:nvPr/>
        </p:nvSpPr>
        <p:spPr>
          <a:xfrm>
            <a:off x="1600200" y="34099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B00C7C-297B-4AFD-9DBB-19CFF463EEE4}"/>
              </a:ext>
            </a:extLst>
          </p:cNvPr>
          <p:cNvSpPr>
            <a:spLocks noGrp="1"/>
          </p:cNvSpPr>
          <p:nvPr/>
        </p:nvSpPr>
        <p:spPr>
          <a:xfrm>
            <a:off x="5600700" y="3400425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5F522B-255D-4E4B-A4D3-8F5E01CFCFC6}"/>
              </a:ext>
            </a:extLst>
          </p:cNvPr>
          <p:cNvSpPr>
            <a:spLocks noGrp="1"/>
          </p:cNvSpPr>
          <p:nvPr/>
        </p:nvSpPr>
        <p:spPr>
          <a:xfrm>
            <a:off x="5895975" y="3724275"/>
            <a:ext cx="400050" cy="400050"/>
          </a:xfrm>
          <a:prstGeom prst="ellipse">
            <a:avLst/>
          </a:prstGeom>
          <a:solidFill>
            <a:srgbClr val="F8F5EE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023106-C2EC-4097-8186-7C512C586E03}"/>
              </a:ext>
            </a:extLst>
          </p:cNvPr>
          <p:cNvSpPr>
            <a:spLocks noGrp="1"/>
          </p:cNvSpPr>
          <p:nvPr/>
        </p:nvSpPr>
        <p:spPr>
          <a:xfrm>
            <a:off x="5895975" y="3819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3D319C-33CF-473B-9AD6-02C55D7FB9EC}"/>
              </a:ext>
            </a:extLst>
          </p:cNvPr>
          <p:cNvSpPr>
            <a:spLocks noGrp="1"/>
          </p:cNvSpPr>
          <p:nvPr/>
        </p:nvSpPr>
        <p:spPr>
          <a:xfrm>
            <a:off x="6591300" y="3676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n8n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DF586C-B769-4AEB-A5A2-8979965CEFA5}"/>
              </a:ext>
            </a:extLst>
          </p:cNvPr>
          <p:cNvSpPr>
            <a:spLocks noGrp="1"/>
          </p:cNvSpPr>
          <p:nvPr/>
        </p:nvSpPr>
        <p:spPr>
          <a:xfrm>
            <a:off x="6591300" y="393382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789D631-D628-461D-B343-E53B995D86D9}"/>
              </a:ext>
            </a:extLst>
          </p:cNvPr>
          <p:cNvSpPr>
            <a:spLocks noGrp="1"/>
          </p:cNvSpPr>
          <p:nvPr/>
        </p:nvSpPr>
        <p:spPr>
          <a:xfrm>
            <a:off x="6296025" y="3924300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F505507-1465-44D7-9BF3-BDE491C8956F}"/>
              </a:ext>
            </a:extLst>
          </p:cNvPr>
          <p:cNvSpPr>
            <a:spLocks noGrp="1"/>
          </p:cNvSpPr>
          <p:nvPr/>
        </p:nvSpPr>
        <p:spPr>
          <a:xfrm>
            <a:off x="5895975" y="4248150"/>
            <a:ext cx="400050" cy="400050"/>
          </a:xfrm>
          <a:prstGeom prst="ellipse">
            <a:avLst/>
          </a:prstGeom>
          <a:solidFill>
            <a:srgbClr val="B7E547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E3D0CA-1AA4-4CAE-BBEC-2857A65CE36F}"/>
              </a:ext>
            </a:extLst>
          </p:cNvPr>
          <p:cNvSpPr>
            <a:spLocks noGrp="1"/>
          </p:cNvSpPr>
          <p:nvPr/>
        </p:nvSpPr>
        <p:spPr>
          <a:xfrm>
            <a:off x="5895975" y="43434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5D519A-F857-455D-91B5-EC5D4976D7EE}"/>
              </a:ext>
            </a:extLst>
          </p:cNvPr>
          <p:cNvSpPr>
            <a:spLocks noGrp="1"/>
          </p:cNvSpPr>
          <p:nvPr/>
        </p:nvSpPr>
        <p:spPr>
          <a:xfrm>
            <a:off x="1600200" y="42005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AI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D4D3CB-580C-4119-AD46-AE44FC3D86EB}"/>
              </a:ext>
            </a:extLst>
          </p:cNvPr>
          <p:cNvSpPr>
            <a:spLocks noGrp="1"/>
          </p:cNvSpPr>
          <p:nvPr/>
        </p:nvSpPr>
        <p:spPr>
          <a:xfrm>
            <a:off x="1600200" y="44577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FA79665A-F112-4456-9700-BF592E5C8EFA}"/>
              </a:ext>
            </a:extLst>
          </p:cNvPr>
          <p:cNvSpPr>
            <a:spLocks noGrp="1"/>
          </p:cNvSpPr>
          <p:nvPr/>
        </p:nvSpPr>
        <p:spPr>
          <a:xfrm>
            <a:off x="5600700" y="4448175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36D0CA2-433F-4224-9DC5-E10D3FE04FAA}"/>
              </a:ext>
            </a:extLst>
          </p:cNvPr>
          <p:cNvSpPr>
            <a:spLocks noGrp="1"/>
          </p:cNvSpPr>
          <p:nvPr/>
        </p:nvSpPr>
        <p:spPr>
          <a:xfrm>
            <a:off x="5895975" y="4772025"/>
            <a:ext cx="400050" cy="400050"/>
          </a:xfrm>
          <a:prstGeom prst="ellipse">
            <a:avLst/>
          </a:prstGeom>
          <a:solidFill>
            <a:srgbClr val="F8F5EE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FC8AF4-0E49-4B59-8039-229E56935C81}"/>
              </a:ext>
            </a:extLst>
          </p:cNvPr>
          <p:cNvSpPr>
            <a:spLocks noGrp="1"/>
          </p:cNvSpPr>
          <p:nvPr/>
        </p:nvSpPr>
        <p:spPr>
          <a:xfrm>
            <a:off x="5895975" y="48672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1F162B-8DEB-4E52-B381-C72527EFBD0E}"/>
              </a:ext>
            </a:extLst>
          </p:cNvPr>
          <p:cNvSpPr>
            <a:spLocks noGrp="1"/>
          </p:cNvSpPr>
          <p:nvPr/>
        </p:nvSpPr>
        <p:spPr>
          <a:xfrm>
            <a:off x="6591300" y="47244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CLOUD DEPLOYMENT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A656DE-1741-4BFA-8E12-7ECA4B84DDC4}"/>
              </a:ext>
            </a:extLst>
          </p:cNvPr>
          <p:cNvSpPr>
            <a:spLocks noGrp="1"/>
          </p:cNvSpPr>
          <p:nvPr/>
        </p:nvSpPr>
        <p:spPr>
          <a:xfrm>
            <a:off x="6591300" y="49815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3FF097FB-FBAD-46A4-9DCD-BD4040B77E32}"/>
              </a:ext>
            </a:extLst>
          </p:cNvPr>
          <p:cNvSpPr>
            <a:spLocks noGrp="1"/>
          </p:cNvSpPr>
          <p:nvPr/>
        </p:nvSpPr>
        <p:spPr>
          <a:xfrm>
            <a:off x="6296025" y="4972050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3CEF15-CB53-46C8-B98F-47505DFEC269}"/>
              </a:ext>
            </a:extLst>
          </p:cNvPr>
          <p:cNvSpPr>
            <a:spLocks noGrp="1"/>
          </p:cNvSpPr>
          <p:nvPr/>
        </p:nvSpPr>
        <p:spPr>
          <a:xfrm>
            <a:off x="5895975" y="5295900"/>
            <a:ext cx="400050" cy="400050"/>
          </a:xfrm>
          <a:prstGeom prst="ellipse">
            <a:avLst/>
          </a:prstGeom>
          <a:solidFill>
            <a:srgbClr val="F8F5EE"/>
          </a:solidFill>
          <a:ln w="190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630014-4F32-48CE-9FAB-4762047A7146}"/>
              </a:ext>
            </a:extLst>
          </p:cNvPr>
          <p:cNvSpPr>
            <a:spLocks noGrp="1"/>
          </p:cNvSpPr>
          <p:nvPr/>
        </p:nvSpPr>
        <p:spPr>
          <a:xfrm>
            <a:off x="5895975" y="53911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E223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223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CC945B-0052-4648-9629-16FBAD617817}"/>
              </a:ext>
            </a:extLst>
          </p:cNvPr>
          <p:cNvSpPr>
            <a:spLocks noGrp="1"/>
          </p:cNvSpPr>
          <p:nvPr/>
        </p:nvSpPr>
        <p:spPr>
          <a:xfrm>
            <a:off x="1600200" y="52482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GITHUB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21C069-A1C0-437E-9E36-9ED884A1F5D7}"/>
              </a:ext>
            </a:extLst>
          </p:cNvPr>
          <p:cNvSpPr>
            <a:spLocks noGrp="1"/>
          </p:cNvSpPr>
          <p:nvPr/>
        </p:nvSpPr>
        <p:spPr>
          <a:xfrm>
            <a:off x="1600200" y="55054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E1864530-79F9-41CF-9B69-466A3AB45837}"/>
              </a:ext>
            </a:extLst>
          </p:cNvPr>
          <p:cNvSpPr>
            <a:spLocks noGrp="1"/>
          </p:cNvSpPr>
          <p:nvPr/>
        </p:nvSpPr>
        <p:spPr>
          <a:xfrm>
            <a:off x="5600700" y="5495925"/>
            <a:ext cx="295275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50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8043130-7035-46BF-8BF8-0B6202E034B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MORTGAGEAI · DDS AI CHALLENGE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7B2B797-3D46-4B19-98C4-75CC9A15EB3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2BA0B1-5459-4353-B794-BAD7D9774DDB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64B26-C174-419D-ACEB-E09996ADEBC9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DEMO LINKS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9DCE7D0F-2BDE-470B-AD6A-2331C59DAAD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57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Everything needed to review the working solution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6264F0-B0DF-43E2-ABFF-60EEB75F091E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AD948-5BA2-4E44-9A34-342B5AC44DFE}"/>
              </a:ext>
            </a:extLst>
          </p:cNvPr>
          <p:cNvSpPr>
            <a:spLocks noGrp="1"/>
          </p:cNvSpPr>
          <p:nvPr/>
        </p:nvSpPr>
        <p:spPr>
          <a:xfrm>
            <a:off x="1428750" y="2152650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LOVABLE 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D63BD0-620D-4276-BF9D-53EE97913201}"/>
              </a:ext>
            </a:extLst>
          </p:cNvPr>
          <p:cNvSpPr>
            <a:spLocks noGrp="1"/>
          </p:cNvSpPr>
          <p:nvPr/>
        </p:nvSpPr>
        <p:spPr>
          <a:xfrm>
            <a:off x="10496550" y="2114550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B3CBFB3-17B1-41EC-9615-EA1FDC025B3F}"/>
              </a:ext>
            </a:extLst>
          </p:cNvPr>
          <p:cNvSpPr>
            <a:spLocks noGrp="1"/>
          </p:cNvSpPr>
          <p:nvPr/>
        </p:nvSpPr>
        <p:spPr>
          <a:xfrm>
            <a:off x="1428750" y="2562225"/>
            <a:ext cx="97917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807CFD-5881-41D9-897F-BE48208BB18B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85470-E719-48B4-853E-40899A7423A4}"/>
              </a:ext>
            </a:extLst>
          </p:cNvPr>
          <p:cNvSpPr>
            <a:spLocks noGrp="1"/>
          </p:cNvSpPr>
          <p:nvPr/>
        </p:nvSpPr>
        <p:spPr>
          <a:xfrm>
            <a:off x="1428750" y="2847975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GOOGLE SHEETS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9478B0-5C64-4930-A54A-4AAF348EB7E1}"/>
              </a:ext>
            </a:extLst>
          </p:cNvPr>
          <p:cNvSpPr>
            <a:spLocks noGrp="1"/>
          </p:cNvSpPr>
          <p:nvPr/>
        </p:nvSpPr>
        <p:spPr>
          <a:xfrm>
            <a:off x="10496550" y="2809875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BA0B79D-C220-4AF3-BE11-80D15F499417}"/>
              </a:ext>
            </a:extLst>
          </p:cNvPr>
          <p:cNvSpPr>
            <a:spLocks noGrp="1"/>
          </p:cNvSpPr>
          <p:nvPr/>
        </p:nvSpPr>
        <p:spPr>
          <a:xfrm>
            <a:off x="1428750" y="3257550"/>
            <a:ext cx="97917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8103BC-593A-47C8-A968-F4B7CD252CD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131F43-D826-493F-93F7-1FCABB687A5B}"/>
              </a:ext>
            </a:extLst>
          </p:cNvPr>
          <p:cNvSpPr>
            <a:spLocks noGrp="1"/>
          </p:cNvSpPr>
          <p:nvPr/>
        </p:nvSpPr>
        <p:spPr>
          <a:xfrm>
            <a:off x="1428750" y="3543300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n8n WORKFLOW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4F1265-F577-4674-A8D7-2C582091BD00}"/>
              </a:ext>
            </a:extLst>
          </p:cNvPr>
          <p:cNvSpPr>
            <a:spLocks noGrp="1"/>
          </p:cNvSpPr>
          <p:nvPr/>
        </p:nvSpPr>
        <p:spPr>
          <a:xfrm>
            <a:off x="10496550" y="3505200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644B5EC-F363-4310-8CAF-0021CB1D7392}"/>
              </a:ext>
            </a:extLst>
          </p:cNvPr>
          <p:cNvSpPr>
            <a:spLocks noGrp="1"/>
          </p:cNvSpPr>
          <p:nvPr/>
        </p:nvSpPr>
        <p:spPr>
          <a:xfrm>
            <a:off x="1428750" y="3952875"/>
            <a:ext cx="97917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5A0041-4DE9-41D7-A2D9-B547EDB36628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9F55EF-C1ED-48ED-A177-352976A76A3C}"/>
              </a:ext>
            </a:extLst>
          </p:cNvPr>
          <p:cNvSpPr>
            <a:spLocks noGrp="1"/>
          </p:cNvSpPr>
          <p:nvPr/>
        </p:nvSpPr>
        <p:spPr>
          <a:xfrm>
            <a:off x="1428750" y="4238625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GITHUB REPO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7724F1-DA44-4F49-A9EF-E93AF9D6FCDB}"/>
              </a:ext>
            </a:extLst>
          </p:cNvPr>
          <p:cNvSpPr>
            <a:spLocks noGrp="1"/>
          </p:cNvSpPr>
          <p:nvPr/>
        </p:nvSpPr>
        <p:spPr>
          <a:xfrm>
            <a:off x="10496550" y="4200525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D7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E8AC0EF-3A5F-4E0E-860A-6EF3E820082B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9791700" cy="0"/>
          </a:xfrm>
          <a:prstGeom prst="line">
            <a:avLst/>
          </a:prstGeom>
          <a:noFill/>
          <a:ln w="9525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270693-AA3F-4601-9E03-FFEDF2348B0E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81F653-6E9F-4FC0-97A3-2D95F9202ED3}"/>
              </a:ext>
            </a:extLst>
          </p:cNvPr>
          <p:cNvSpPr>
            <a:spLocks noGrp="1"/>
          </p:cNvSpPr>
          <p:nvPr/>
        </p:nvSpPr>
        <p:spPr>
          <a:xfrm>
            <a:off x="1428750" y="4933950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VIDEO LINK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B3E184-0A3A-4609-A495-C4440B6BFB56}"/>
              </a:ext>
            </a:extLst>
          </p:cNvPr>
          <p:cNvSpPr>
            <a:spLocks noGrp="1"/>
          </p:cNvSpPr>
          <p:nvPr/>
        </p:nvSpPr>
        <p:spPr>
          <a:xfrm>
            <a:off x="10496550" y="4895850"/>
            <a:ext cx="72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100" b="1">
                <a:solidFill>
                  <a:srgbClr val="007C7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C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40A1B500-5B11-499C-856B-A731E510AF6A}"/>
              </a:ext>
            </a:extLst>
          </p:cNvPr>
          <p:cNvSpPr>
            <a:spLocks noGrp="1"/>
          </p:cNvSpPr>
          <p:nvPr/>
        </p:nvSpPr>
        <p:spPr>
          <a:xfrm>
            <a:off x="1428750" y="5343525"/>
            <a:ext cx="9791700" cy="0"/>
          </a:xfrm>
          <a:prstGeom prst="line">
            <a:avLst/>
          </a:prstGeom>
          <a:noFill/>
          <a:ln w="38100">
            <a:solidFill>
              <a:srgbClr val="B7E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C5AE93-8A15-489E-A310-62AEE0EC7C17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D7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7B7A"/>
                </a:solidFill>
                <a:latin typeface="Aptos"/>
                <a:ea typeface="Aptos"/>
                <a:cs typeface="Aptos"/>
              </a:rPr>
              <a:t>Link destinations to be added before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57554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3688875-E004-4B83-A3ED-AA38EA3541E9}"/>
              </a:ext>
            </a:extLst>
          </p:cNvPr>
          <p:cNvSpPr>
            <a:spLocks noGrp="1"/>
          </p:cNvSpPr>
          <p:nvPr/>
        </p:nvSpPr>
        <p:spPr>
          <a:xfrm>
            <a:off x="1828800" y="1371600"/>
            <a:ext cx="8534400" cy="0"/>
          </a:xfrm>
          <a:prstGeom prst="line">
            <a:avLst/>
          </a:prstGeom>
          <a:noFill/>
          <a:ln w="9525">
            <a:solidFill>
              <a:srgbClr val="D7E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6D656E-B428-4128-A1EB-B79C1A03E614}"/>
              </a:ext>
            </a:extLst>
          </p:cNvPr>
          <p:cNvSpPr>
            <a:spLocks noGrp="1"/>
          </p:cNvSpPr>
          <p:nvPr/>
        </p:nvSpPr>
        <p:spPr>
          <a:xfrm>
            <a:off x="2286000" y="20002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B7E5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E547"/>
                </a:solidFill>
                <a:latin typeface="Aptos"/>
                <a:ea typeface="Aptos"/>
                <a:cs typeface="Aptos"/>
              </a:rPr>
              <a:t>BUILT FOR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B2335-46D3-44F4-9964-49762697CCA8}"/>
              </a:ext>
            </a:extLst>
          </p:cNvPr>
          <p:cNvSpPr>
            <a:spLocks noGrp="1"/>
          </p:cNvSpPr>
          <p:nvPr/>
        </p:nvSpPr>
        <p:spPr>
          <a:xfrm>
            <a:off x="1619250" y="24955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DDS AI 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9F5437-2B86-455D-BAA2-C2A73048E856}"/>
              </a:ext>
            </a:extLst>
          </p:cNvPr>
          <p:cNvSpPr>
            <a:spLocks noGrp="1"/>
          </p:cNvSpPr>
          <p:nvPr/>
        </p:nvSpPr>
        <p:spPr>
          <a:xfrm>
            <a:off x="3238500" y="360045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D7ECE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CE7"/>
                </a:solidFill>
                <a:latin typeface="Aptos"/>
                <a:ea typeface="Aptos"/>
                <a:cs typeface="Aptos"/>
              </a:rPr>
              <a:t>By Adarsh Malpotra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373C65-FA8D-4FBA-9500-2F3CB6E0479F}"/>
              </a:ext>
            </a:extLst>
          </p:cNvPr>
          <p:cNvSpPr>
            <a:spLocks noGrp="1"/>
          </p:cNvSpPr>
          <p:nvPr/>
        </p:nvSpPr>
        <p:spPr>
          <a:xfrm>
            <a:off x="5676900" y="4695825"/>
            <a:ext cx="838200" cy="838200"/>
          </a:xfrm>
          <a:prstGeom prst="ellipse">
            <a:avLst/>
          </a:prstGeom>
          <a:solidFill>
            <a:srgbClr val="B7E547"/>
          </a:solidFill>
          <a:ln w="0">
            <a:solidFill>
              <a:srgbClr val="B7E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F76A3-05D8-4C0F-B23A-77699BA29FC9}"/>
              </a:ext>
            </a:extLst>
          </p:cNvPr>
          <p:cNvSpPr>
            <a:spLocks noGrp="1"/>
          </p:cNvSpPr>
          <p:nvPr/>
        </p:nvSpPr>
        <p:spPr>
          <a:xfrm>
            <a:off x="5676900" y="491490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2230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62DEFDC-958D-4EA3-8377-8FC215BADDDD}"/>
              </a:ext>
            </a:extLst>
          </p:cNvPr>
          <p:cNvSpPr>
            <a:spLocks noGrp="1"/>
          </p:cNvSpPr>
          <p:nvPr/>
        </p:nvSpPr>
        <p:spPr>
          <a:xfrm>
            <a:off x="1828800" y="5924550"/>
            <a:ext cx="8534400" cy="0"/>
          </a:xfrm>
          <a:prstGeom prst="line">
            <a:avLst/>
          </a:prstGeom>
          <a:noFill/>
          <a:ln w="9525">
            <a:solidFill>
              <a:srgbClr val="D7E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23635-DCE8-4407-ABCF-FF420641B340}"/>
              </a:ext>
            </a:extLst>
          </p:cNvPr>
          <p:cNvSpPr>
            <a:spLocks noGrp="1"/>
          </p:cNvSpPr>
          <p:nvPr/>
        </p:nvSpPr>
        <p:spPr>
          <a:xfrm>
            <a:off x="11049000" y="6343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D7EC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ECE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79603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405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Aptos Display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Kumar Malpotra</dc:creator>
  <cp:lastModifiedBy>Adarsh Kumar Malpotra</cp:lastModifiedBy>
  <cp:revision>2</cp:revision>
  <dcterms:created xsi:type="dcterms:W3CDTF">2026-09-12T14:01:32Z</dcterms:created>
  <dcterms:modified xsi:type="dcterms:W3CDTF">2026-09-12T14:08:00Z</dcterms:modified>
</cp:coreProperties>
</file>