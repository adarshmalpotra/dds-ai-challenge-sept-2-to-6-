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MortgageAI solves the biggest pain in home loans — slow and inconsistent underwriting. My vision is to automate FOIR, EMI, loan eligibility, bank-wise rules, and document checklists so borrowers get instant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brain of the app is a structured underwriting engine powered by Claude 3.5 Sonnet. n8n orchestrates the entire flow — intake, calculations, underwriting, checklist, Drive folder creation, Sheets logging, and email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application flows through one automated pipeline: intake, webhook trigger, FOIR and EMI calculation, Claude's underwriting logic, bank-specific rule checks, document checklist generation, Drive and Sheets logging, and finally an automated email to the borrower.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first four days, I built the full working pipeline. FOIR and EMI calculations are validated, underwriting logic is consistent, and document checklists work well. I added validation nodes, fallback prompts, safety guardrails, and measured latency. The system is now stable and ready for multi-bank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I'm adding more bank rules, improving PDF parsing, and building a simple UI. The goal is to make MortgageAI production-ready — fast, accurate, and scalable for consultants and home buyers.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image" Target="../media/image-4-1.png"/><Relationship Id="rId9" Type="http://schemas.openxmlformats.org/officeDocument/2006/relationships/image" Target="../media/image-4-1.png"/><Relationship Id="rId10" Type="http://schemas.openxmlformats.org/officeDocument/2006/relationships/image" Target="../media/image-4-1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Slow &amp; Manual Underwriting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475488" cy="47548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6" name="Image 0" descr="/home/claude/mortgageai_ppt/icons/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2279416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25296" y="218541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inconsistent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25296" y="2459736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eligibility checks today are slow, manual, and produce inconsistent results.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45536"/>
            <a:ext cx="475488" cy="47548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0" name="Image 1" descr="/home/claude/mortgageai_ppt/icons/icon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8" y="3212104"/>
            <a:ext cx="342351" cy="3423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25296" y="3118104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vary by bank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25296" y="3392424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FOIR, EMI, and loan rules differ across HDFC, ICICI, SBI and others.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078224"/>
            <a:ext cx="475488" cy="47548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4" name="Image 2" descr="/home/claude/mortgageai_ppt/icons/icon_confus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4144792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25296" y="4050792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confusion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225296" y="4325112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requirements confuse first-time home buyers.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010912"/>
            <a:ext cx="475488" cy="47548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8" name="Image 3" descr="/home/claude/mortgageai_ppt/icons/icon_hourgl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" y="5077480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25296" y="4983480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work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225296" y="52578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spend hours validating PDFs and preparing summaries.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46520" y="1783080"/>
            <a:ext cx="5193792" cy="4251960"/>
          </a:xfrm>
          <a:prstGeom prst="roundRect">
            <a:avLst>
              <a:gd name="adj" fmla="val 2581"/>
            </a:avLst>
          </a:prstGeom>
          <a:solidFill>
            <a:srgbClr val="CADCFC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812280" y="207568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812280" y="25603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home/claude/mortgageai_ppt/icons/icon_rocke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167" y="2619207"/>
            <a:ext cx="302849" cy="30284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52360" y="2560320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AI underwriting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6812280" y="321868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/home/claude/mortgageai_ppt/icons/icon_bol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1167" y="3277575"/>
            <a:ext cx="302849" cy="302849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452360" y="3218688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clarity for home buyers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12280" y="38770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/home/claude/mortgageai_ppt/icons/icon_bulb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1167" y="3935943"/>
            <a:ext cx="302849" cy="302849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452360" y="3877056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rules &amp; documents built-in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812280" y="4700016"/>
            <a:ext cx="4462272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6812280" y="4864608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 →  MINUTES</a:t>
            </a:r>
            <a:endParaRPr lang="en-US" sz="2600" dirty="0"/>
          </a:p>
        </p:txBody>
      </p:sp>
      <p:sp>
        <p:nvSpPr>
          <p:cNvPr id="34" name="Text 25"/>
          <p:cNvSpPr txBox="1"/>
          <p:nvPr/>
        </p:nvSpPr>
        <p:spPr>
          <a:xfrm>
            <a:off x="6812280" y="5449824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end-to-end processing time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MORTGAGEAI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n8n + Claude Underwriting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52244"/>
            <a:ext cx="512064" cy="512064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6" name="Image 0" descr="/home/claude/mortgageai_ppt/icons/icon_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29" y="2023933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90472" y="1783080"/>
            <a:ext cx="4178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 → n8n webhook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003804"/>
            <a:ext cx="512064" cy="512064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10" name="Image 1" descr="/home/claude/mortgageai_ppt/icons/icon_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29" y="3075493"/>
            <a:ext cx="368686" cy="3686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90472" y="2834640"/>
            <a:ext cx="4178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FOIR, EMI &amp; loan eligibility calculation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4055364"/>
            <a:ext cx="512064" cy="512064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14" name="Image 2" descr="/home/claude/mortgageai_ppt/icons/icon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" y="4127053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90472" y="3886200"/>
            <a:ext cx="4178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underwriting logic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9377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5106924"/>
            <a:ext cx="512064" cy="512064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18" name="Image 3" descr="/home/claude/mortgageai_ppt/icons/icon_ba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" y="5178613"/>
            <a:ext cx="368686" cy="3686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90472" y="4937760"/>
            <a:ext cx="4178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Bank-specific rule blocks — HDFC, ICICI, SBI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309360" y="1783080"/>
            <a:ext cx="53309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1952244"/>
            <a:ext cx="512064" cy="512064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22" name="Image 4" descr="/home/claude/mortgageai_ppt/icons/icon_check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649" y="2023933"/>
            <a:ext cx="368686" cy="36868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51192" y="17830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document checklist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309360" y="2834640"/>
            <a:ext cx="53309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37960" y="3003804"/>
            <a:ext cx="512064" cy="512064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26" name="Image 5" descr="/home/claude/mortgageai_ppt/icons/icon_dri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649" y="3075493"/>
            <a:ext cx="368686" cy="36868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51192" y="28346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folder auto-creation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309360" y="3886200"/>
            <a:ext cx="53309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537960" y="4055364"/>
            <a:ext cx="512064" cy="512064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30" name="Image 6" descr="/home/claude/mortgageai_ppt/icons/icon_she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649" y="4127053"/>
            <a:ext cx="368686" cy="36868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251192" y="38862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logging + email automation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309360" y="4937760"/>
            <a:ext cx="533095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3" name="Shape 24"/>
          <p:cNvSpPr/>
          <p:nvPr/>
        </p:nvSpPr>
        <p:spPr>
          <a:xfrm>
            <a:off x="6537960" y="5106924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4" name="Image 7" descr="/home/claude/mortgageai_ppt/icons/icon_robo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9649" y="5178613"/>
            <a:ext cx="368686" cy="36868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51192" y="49377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3.5 Sonnet —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 behind every underwriting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Automation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91109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99616" y="2075688"/>
            <a:ext cx="585216" cy="585216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8" name="Image 0" descr="/home/claude/mortgageai_ppt/icons/icon_inbo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990" y="2140062"/>
            <a:ext cx="456468" cy="4564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71576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83864" y="191109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83864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06824" y="2075688"/>
            <a:ext cx="585216" cy="585216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14" name="Image 1" descr="/home/claude/mortgageai_ppt/icons/icon_webhoo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198" y="2140062"/>
            <a:ext cx="456468" cy="4564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93008" y="271576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Webhook Trigger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63056" y="178308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91109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291072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114032" y="2075688"/>
            <a:ext cx="585216" cy="585216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20" name="Image 2" descr="/home/claude/mortgageai_ppt/icons/icon_calculato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406" y="2140062"/>
            <a:ext cx="456468" cy="4564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00216" y="271576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FOIR / EMI Calculation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70264" y="178308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98280" y="191109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909828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9921240" y="2075688"/>
            <a:ext cx="585216" cy="585216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26" name="Image 3" descr="/home/claude/mortgageai_ppt/icons/icon_robo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614" y="2140062"/>
            <a:ext cx="456468" cy="45646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107424" y="271576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Underwriting Engine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3063240" y="2345436"/>
            <a:ext cx="265176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9" name="Shape 23"/>
          <p:cNvSpPr/>
          <p:nvPr/>
        </p:nvSpPr>
        <p:spPr>
          <a:xfrm>
            <a:off x="5870448" y="2345436"/>
            <a:ext cx="265176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0" name="Shape 24"/>
          <p:cNvSpPr/>
          <p:nvPr/>
        </p:nvSpPr>
        <p:spPr>
          <a:xfrm>
            <a:off x="8677656" y="2345436"/>
            <a:ext cx="265176" cy="29260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1" name="Shape 25"/>
          <p:cNvSpPr/>
          <p:nvPr/>
        </p:nvSpPr>
        <p:spPr>
          <a:xfrm>
            <a:off x="10030968" y="3273552"/>
            <a:ext cx="365760" cy="996696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32" name="Shape 26"/>
          <p:cNvSpPr/>
          <p:nvPr/>
        </p:nvSpPr>
        <p:spPr>
          <a:xfrm>
            <a:off x="8970264" y="434340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098280" y="44714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909828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9921240" y="4636008"/>
            <a:ext cx="585216" cy="585216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36" name="Image 4" descr="/home/claude/mortgageai_ppt/icons/icon_ban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614" y="4700382"/>
            <a:ext cx="456468" cy="4564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107424" y="52760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Rules: HDFC / ICICI / SBI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6163056" y="434340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291072" y="44714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291072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Shape 34"/>
          <p:cNvSpPr/>
          <p:nvPr/>
        </p:nvSpPr>
        <p:spPr>
          <a:xfrm>
            <a:off x="7114032" y="4636008"/>
            <a:ext cx="585216" cy="585216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42" name="Image 5" descr="/home/claude/mortgageai_ppt/icons/icon_checklis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406" y="4700382"/>
            <a:ext cx="456468" cy="456468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300216" y="52760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Checklist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3355848" y="434340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3483864" y="44714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3483864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4306824" y="4636008"/>
            <a:ext cx="585216" cy="585216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48" name="Image 6" descr="/home/claude/mortgageai_ppt/icons/icon_drive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198" y="4700382"/>
            <a:ext cx="456468" cy="45646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3493008" y="52760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Folder + Sheets Log</a:t>
            </a:r>
            <a:endParaRPr lang="en-US" sz="1250" dirty="0"/>
          </a:p>
        </p:txBody>
      </p:sp>
      <p:sp>
        <p:nvSpPr>
          <p:cNvPr id="50" name="Shape 41"/>
          <p:cNvSpPr/>
          <p:nvPr/>
        </p:nvSpPr>
        <p:spPr>
          <a:xfrm>
            <a:off x="548640" y="434340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676656" y="447141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676656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Shape 44"/>
          <p:cNvSpPr/>
          <p:nvPr/>
        </p:nvSpPr>
        <p:spPr>
          <a:xfrm>
            <a:off x="1499616" y="4636008"/>
            <a:ext cx="585216" cy="585216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54" name="Image 7" descr="/home/claude/mortgageai_ppt/icons/icon_email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3990" y="4700382"/>
            <a:ext cx="456468" cy="456468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685800" y="52760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1250" dirty="0"/>
          </a:p>
        </p:txBody>
      </p:sp>
      <p:sp>
        <p:nvSpPr>
          <p:cNvPr id="56" name="Shape 46"/>
          <p:cNvSpPr/>
          <p:nvPr/>
        </p:nvSpPr>
        <p:spPr>
          <a:xfrm>
            <a:off x="8677656" y="4905756"/>
            <a:ext cx="265176" cy="292608"/>
          </a:xfrm>
          <a:prstGeom prst="leftArrow">
            <a:avLst/>
          </a:prstGeom>
          <a:solidFill>
            <a:srgbClr val="CADCFC"/>
          </a:solidFill>
          <a:ln/>
        </p:spPr>
      </p:sp>
      <p:sp>
        <p:nvSpPr>
          <p:cNvPr id="57" name="Shape 47"/>
          <p:cNvSpPr/>
          <p:nvPr/>
        </p:nvSpPr>
        <p:spPr>
          <a:xfrm>
            <a:off x="5870448" y="4905756"/>
            <a:ext cx="265176" cy="292608"/>
          </a:xfrm>
          <a:prstGeom prst="leftArrow">
            <a:avLst/>
          </a:prstGeom>
          <a:solidFill>
            <a:srgbClr val="CADCFC"/>
          </a:solidFill>
          <a:ln/>
        </p:spPr>
      </p:sp>
      <p:sp>
        <p:nvSpPr>
          <p:cNvPr id="58" name="Shape 48"/>
          <p:cNvSpPr/>
          <p:nvPr/>
        </p:nvSpPr>
        <p:spPr>
          <a:xfrm>
            <a:off x="3063240" y="4905756"/>
            <a:ext cx="265176" cy="292608"/>
          </a:xfrm>
          <a:prstGeom prst="leftArrow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DAYS 2–4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Been Built So Far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112264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6" name="Image 0" descr="/home/claude/mortgageai_ppt/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30" y="2140062"/>
            <a:ext cx="291876" cy="2918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96596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README, .gitignore created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807208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953512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10" name="Image 1" descr="/home/claude/mortgageai_ppt/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30" y="2981310"/>
            <a:ext cx="291876" cy="2918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280720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workspace set up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648456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" y="3794760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14" name="Image 2" descr="/home/claude/mortgageai_ppt/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30" y="3822558"/>
            <a:ext cx="291876" cy="2918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364845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prototype workflow built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4636008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18" name="Image 3" descr="/home/claude/mortgageai_ppt/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30" y="4663806"/>
            <a:ext cx="291876" cy="29187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43584" y="4489704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FOIR / EMI validated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5330952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3232" y="5477256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22" name="Image 4" descr="/home/claude/mortgageai_ppt/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30" y="5505054"/>
            <a:ext cx="291876" cy="29187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43584" y="533095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logic stable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4846320" y="196596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010912" y="2112264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26" name="Image 5" descr="/home/claude/mortgageai_ppt/icons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10" y="2140062"/>
            <a:ext cx="291876" cy="29187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541264" y="196596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checklist accurate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4846320" y="2807208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010912" y="2953512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30" name="Image 6" descr="/home/claude/mortgageai_ppt/icons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710" y="2981310"/>
            <a:ext cx="291876" cy="29187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541264" y="2807208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 created</a:t>
            </a:r>
            <a:endParaRPr lang="en-US" sz="1450" dirty="0"/>
          </a:p>
        </p:txBody>
      </p:sp>
      <p:sp>
        <p:nvSpPr>
          <p:cNvPr id="32" name="Shape 23"/>
          <p:cNvSpPr/>
          <p:nvPr/>
        </p:nvSpPr>
        <p:spPr>
          <a:xfrm>
            <a:off x="4846320" y="3648456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010912" y="3794760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34" name="Image 7" descr="/home/claude/mortgageai_ppt/icons/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710" y="3822558"/>
            <a:ext cx="291876" cy="29187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541264" y="3648456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added</a:t>
            </a:r>
            <a:endParaRPr lang="en-US" sz="1450" dirty="0"/>
          </a:p>
        </p:txBody>
      </p:sp>
      <p:sp>
        <p:nvSpPr>
          <p:cNvPr id="36" name="Shape 26"/>
          <p:cNvSpPr/>
          <p:nvPr/>
        </p:nvSpPr>
        <p:spPr>
          <a:xfrm>
            <a:off x="4846320" y="4489704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010912" y="4636008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38" name="Image 8" descr="/home/claude/mortgageai_ppt/icons/icon_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8710" y="4663806"/>
            <a:ext cx="291876" cy="29187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541264" y="4489704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reliability improved</a:t>
            </a:r>
            <a:endParaRPr lang="en-US" sz="1450" dirty="0"/>
          </a:p>
        </p:txBody>
      </p:sp>
      <p:sp>
        <p:nvSpPr>
          <p:cNvPr id="40" name="Shape 29"/>
          <p:cNvSpPr/>
          <p:nvPr/>
        </p:nvSpPr>
        <p:spPr>
          <a:xfrm>
            <a:off x="4846320" y="5330952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5010912" y="5477256"/>
            <a:ext cx="347472" cy="347472"/>
          </a:xfrm>
          <a:prstGeom prst="ellipse">
            <a:avLst/>
          </a:prstGeom>
          <a:solidFill>
            <a:srgbClr val="EDF3FF"/>
          </a:solidFill>
          <a:ln/>
        </p:spPr>
      </p:sp>
      <p:pic>
        <p:nvPicPr>
          <p:cNvPr id="42" name="Image 9" descr="/home/claude/mortgageai_ppt/icons/icon_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8710" y="5505054"/>
            <a:ext cx="291876" cy="29187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541264" y="533095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 added</a:t>
            </a:r>
            <a:endParaRPr lang="en-US" sz="1450" dirty="0"/>
          </a:p>
        </p:txBody>
      </p:sp>
      <p:sp>
        <p:nvSpPr>
          <p:cNvPr id="44" name="Shape 32"/>
          <p:cNvSpPr/>
          <p:nvPr/>
        </p:nvSpPr>
        <p:spPr>
          <a:xfrm>
            <a:off x="8915400" y="1965960"/>
            <a:ext cx="2743200" cy="4005072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45" name="Shape 33"/>
          <p:cNvSpPr/>
          <p:nvPr/>
        </p:nvSpPr>
        <p:spPr>
          <a:xfrm>
            <a:off x="9976104" y="2286000"/>
            <a:ext cx="621792" cy="621792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46" name="Image 10" descr="/home/claude/mortgageai_ppt/icons/icon_gauge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0719" y="2360615"/>
            <a:ext cx="472562" cy="47256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09828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~6–7 SEC</a:t>
            </a:r>
            <a:endParaRPr lang="en-US" sz="2600" dirty="0"/>
          </a:p>
        </p:txBody>
      </p:sp>
      <p:sp>
        <p:nvSpPr>
          <p:cNvPr id="48" name="Text 35"/>
          <p:cNvSpPr txBox="1"/>
          <p:nvPr/>
        </p:nvSpPr>
        <p:spPr>
          <a:xfrm>
            <a:off x="909828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measured</a:t>
            </a:r>
            <a:endParaRPr lang="en-US" sz="1100" dirty="0"/>
          </a:p>
        </p:txBody>
      </p:sp>
      <p:sp>
        <p:nvSpPr>
          <p:cNvPr id="49" name="Shape 36"/>
          <p:cNvSpPr/>
          <p:nvPr/>
        </p:nvSpPr>
        <p:spPr>
          <a:xfrm>
            <a:off x="9189720" y="4114800"/>
            <a:ext cx="2194560" cy="0"/>
          </a:xfrm>
          <a:prstGeom prst="line">
            <a:avLst/>
          </a:prstGeom>
          <a:noFill/>
          <a:ln w="12700">
            <a:solidFill>
              <a:srgbClr val="161B4D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9171432" y="4343400"/>
            <a:ext cx="365760" cy="365760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51" name="Image 11" descr="/home/claude/mortgageai_ppt/icons/icon_shield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1666" y="4383634"/>
            <a:ext cx="285293" cy="285293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9628632" y="43159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 added</a:t>
            </a:r>
            <a:endParaRPr lang="en-US" sz="1150" dirty="0"/>
          </a:p>
        </p:txBody>
      </p:sp>
      <p:sp>
        <p:nvSpPr>
          <p:cNvPr id="53" name="Shape 39"/>
          <p:cNvSpPr/>
          <p:nvPr/>
        </p:nvSpPr>
        <p:spPr>
          <a:xfrm>
            <a:off x="9171432" y="5056632"/>
            <a:ext cx="365760" cy="365760"/>
          </a:xfrm>
          <a:prstGeom prst="ellipse">
            <a:avLst/>
          </a:prstGeom>
          <a:solidFill>
            <a:srgbClr val="161B4D"/>
          </a:solidFill>
          <a:ln/>
        </p:spPr>
      </p:sp>
      <p:pic>
        <p:nvPicPr>
          <p:cNvPr id="54" name="Image 12" descr="/home/claude/mortgageai_ppt/icons/icon_code_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1666" y="5096866"/>
            <a:ext cx="285293" cy="285293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9628632" y="5029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fallback nodes stable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ENHANCEMENTS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8288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bank underwriting rules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254203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PDF parsing accuracy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325526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UI for intake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396849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RAG for bank policy documents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6817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demo video + final submission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559552"/>
            <a:ext cx="5074920" cy="731520"/>
          </a:xfrm>
          <a:prstGeom prst="roundRect">
            <a:avLst>
              <a:gd name="adj" fmla="val 12500"/>
            </a:avLst>
          </a:prstGeom>
          <a:solidFill>
            <a:srgbClr val="161B4D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57424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0" descr="/home/claude/mortgageai_ppt/icons/icon_bol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5786323"/>
            <a:ext cx="277978" cy="27797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316736" y="5559552"/>
            <a:ext cx="4123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in 4 days.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scale to every consultant and bank.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46520" y="1783080"/>
            <a:ext cx="5193792" cy="4343400"/>
          </a:xfrm>
          <a:prstGeom prst="roundRect">
            <a:avLst>
              <a:gd name="adj" fmla="val 2526"/>
            </a:avLst>
          </a:prstGeom>
          <a:solidFill>
            <a:srgbClr val="CADCF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12280" y="207568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812280" y="25603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1" descr="/home/claude/mortgageai_ppt/icons/icon_char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167" y="2619207"/>
            <a:ext cx="302849" cy="302849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452360" y="2560320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812280" y="33375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2" descr="/home/claude/mortgageai_ppt/icons/icon_targ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167" y="3396447"/>
            <a:ext cx="302849" cy="302849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452360" y="3337560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812280" y="4114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/home/claude/mortgageai_ppt/icons/icon_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167" y="4173687"/>
            <a:ext cx="302849" cy="302849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452360" y="4114800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812280" y="48920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/home/claude/mortgageai_ppt/icons/icon_user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167" y="4950927"/>
            <a:ext cx="302849" cy="302849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452360" y="4892040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consultants &amp; partners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2026-09-08T12:42:58Z</dcterms:created>
  <dcterms:modified xsi:type="dcterms:W3CDTF">2026-09-08T12:42:58Z</dcterms:modified>
</cp:coreProperties>
</file>